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23"/>
  </p:notesMasterIdLst>
  <p:sldIdLst>
    <p:sldId id="256" r:id="rId5"/>
    <p:sldId id="257" r:id="rId6"/>
    <p:sldId id="258" r:id="rId7"/>
    <p:sldId id="276" r:id="rId8"/>
    <p:sldId id="277" r:id="rId9"/>
    <p:sldId id="260" r:id="rId10"/>
    <p:sldId id="261" r:id="rId11"/>
    <p:sldId id="262" r:id="rId12"/>
    <p:sldId id="271" r:id="rId13"/>
    <p:sldId id="272" r:id="rId14"/>
    <p:sldId id="273" r:id="rId15"/>
    <p:sldId id="274" r:id="rId16"/>
    <p:sldId id="264" r:id="rId17"/>
    <p:sldId id="265" r:id="rId18"/>
    <p:sldId id="266" r:id="rId19"/>
    <p:sldId id="267" r:id="rId20"/>
    <p:sldId id="268" r:id="rId21"/>
    <p:sldId id="269" r:id="rId22"/>
  </p:sldIdLst>
  <p:sldSz cx="12192000" cy="6858000"/>
  <p:notesSz cx="6858000" cy="9144000"/>
  <p:embeddedFontLst>
    <p:embeddedFont>
      <p:font typeface="Century Gothic" panose="020B0502020202020204" pitchFamily="34" charset="0"/>
      <p:regular r:id="rId24"/>
      <p:bold r:id="rId25"/>
      <p:italic r:id="rId26"/>
      <p:boldItalic r:id="rId27"/>
    </p:embeddedFont>
  </p:embeddedFontLst>
  <p:custDataLst>
    <p:tags r:id="rId28"/>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0" roundtripDataSignature="AMtx7mhlYlCtF+airiOZksSy3UV5ad0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BF7811-83D2-A143-028B-36A1A3868B99}" v="2" dt="2026-04-19T23:31:47.450"/>
    <p1510:client id="{C9DC0485-BF21-43A6-8307-AA4EFC81B801}" v="3204" dt="2026-04-19T21:48:21.946"/>
  </p1510:revLst>
</p1510:revInfo>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132" y="6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3.fntdata"/><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2.fntdata"/><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1.fntdata"/><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gs" Target="tags/tag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4.fntdata"/><Relationship Id="rId30" Type="http://customschemas.google.com/relationships/presentationmetadata" Target="metadata"/><Relationship Id="rId35" Type="http://schemas.microsoft.com/office/2015/10/relationships/revisionInfo" Target="revisionInfo.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39196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r>
              <a:rPr lang="en-US" dirty="0"/>
              <a:t>[Introduce your security policy. Explain why it was needed and how it </a:t>
            </a:r>
            <a:r>
              <a:rPr lang="en-US"/>
              <a:t>will be</a:t>
            </a:r>
            <a:r>
              <a:rPr lang="en-US" dirty="0"/>
              <a:t> used to support the defense-in-depth best practice.]</a:t>
            </a:r>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a:extLst>
            <a:ext uri="{FF2B5EF4-FFF2-40B4-BE49-F238E27FC236}">
              <a16:creationId xmlns:a16="http://schemas.microsoft.com/office/drawing/2014/main" id="{0A655BA1-7022-22B2-454A-88FEFC15458A}"/>
            </a:ext>
          </a:extLst>
        </p:cNvPr>
        <p:cNvGrpSpPr/>
        <p:nvPr/>
      </p:nvGrpSpPr>
      <p:grpSpPr>
        <a:xfrm>
          <a:off x="0" y="0"/>
          <a:ext cx="0" cy="0"/>
          <a:chOff x="0" y="0"/>
          <a:chExt cx="0" cy="0"/>
        </a:xfrm>
      </p:grpSpPr>
      <p:sp>
        <p:nvSpPr>
          <p:cNvPr id="164" name="Google Shape;164;p5:notes">
            <a:extLst>
              <a:ext uri="{FF2B5EF4-FFF2-40B4-BE49-F238E27FC236}">
                <a16:creationId xmlns:a16="http://schemas.microsoft.com/office/drawing/2014/main" id="{06D1C8DB-EFBA-A654-BAD3-7765451FE35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dirty="0"/>
          </a:p>
        </p:txBody>
      </p:sp>
      <p:sp>
        <p:nvSpPr>
          <p:cNvPr id="165" name="Google Shape;165;p5:notes">
            <a:extLst>
              <a:ext uri="{FF2B5EF4-FFF2-40B4-BE49-F238E27FC236}">
                <a16:creationId xmlns:a16="http://schemas.microsoft.com/office/drawing/2014/main" id="{5C8ED0D4-EEEB-73B2-D31A-8487BAD5ACF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081674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a:extLst>
            <a:ext uri="{FF2B5EF4-FFF2-40B4-BE49-F238E27FC236}">
              <a16:creationId xmlns:a16="http://schemas.microsoft.com/office/drawing/2014/main" id="{0F546B0C-5193-7F5D-1657-A51CA09407ED}"/>
            </a:ext>
          </a:extLst>
        </p:cNvPr>
        <p:cNvGrpSpPr/>
        <p:nvPr/>
      </p:nvGrpSpPr>
      <p:grpSpPr>
        <a:xfrm>
          <a:off x="0" y="0"/>
          <a:ext cx="0" cy="0"/>
          <a:chOff x="0" y="0"/>
          <a:chExt cx="0" cy="0"/>
        </a:xfrm>
      </p:grpSpPr>
      <p:sp>
        <p:nvSpPr>
          <p:cNvPr id="164" name="Google Shape;164;p5:notes">
            <a:extLst>
              <a:ext uri="{FF2B5EF4-FFF2-40B4-BE49-F238E27FC236}">
                <a16:creationId xmlns:a16="http://schemas.microsoft.com/office/drawing/2014/main" id="{3954129E-183C-109A-CA75-4BD9C72C8EF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dirty="0"/>
          </a:p>
        </p:txBody>
      </p:sp>
      <p:sp>
        <p:nvSpPr>
          <p:cNvPr id="165" name="Google Shape;165;p5:notes">
            <a:extLst>
              <a:ext uri="{FF2B5EF4-FFF2-40B4-BE49-F238E27FC236}">
                <a16:creationId xmlns:a16="http://schemas.microsoft.com/office/drawing/2014/main" id="{FBCA34F8-76F3-2D30-F790-83D675442E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892509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r>
              <a:rPr lang="en-US" dirty="0"/>
              <a:t>[List the 10 coding standards. Explain your own ranking system for </a:t>
            </a:r>
            <a:r>
              <a:rPr lang="en-US" dirty="0" err="1"/>
              <a:t>vulnerabilities,using</a:t>
            </a:r>
            <a:r>
              <a:rPr lang="en-US" dirty="0"/>
              <a:t> specific details from the coding standards in your security policy.]</a:t>
            </a:r>
          </a:p>
          <a:p>
            <a:pPr marL="0" indent="0">
              <a:buNone/>
            </a:pPr>
            <a:endParaRPr lang="en-US" dirty="0"/>
          </a:p>
          <a:p>
            <a:pPr marL="0" indent="0">
              <a:buNone/>
            </a:pPr>
            <a:endParaRPr lang="en-US" dirty="0"/>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r>
              <a:rPr lang="en-US"/>
              <a:t>[Explain the policies for encryption in flight, at rest, and in use.]</a:t>
            </a:r>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r>
              <a:rPr lang="en-US" dirty="0"/>
              <a:t>[Explain the policies that support authentication, authorization, </a:t>
            </a:r>
            <a:r>
              <a:rPr lang="en-US" dirty="0" err="1"/>
              <a:t>andaccounting</a:t>
            </a:r>
            <a:r>
              <a:rPr lang="en-US" dirty="0"/>
              <a:t>.]</a:t>
            </a:r>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33AE4230-CEA6-1858-E953-E8DB6B152208}"/>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DF76FFB1-FE6F-D003-2754-7794624DDD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2765FDE5-0C89-6A57-F81C-4F24963F7BB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7540722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30D2F133-0A22-EA32-2EE7-CB6F94009A32}"/>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3D415E75-28D3-FE1A-87D2-CDE5ACC0CC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77511493-00BF-AF27-A771-07DD0B92E62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913918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D9F829F3-0E99-B0BC-3D2C-B91B17DF8AF6}"/>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475BAD05-12D5-87FB-28B0-9D3A268971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017C4950-E79D-A2BD-AF7A-C795AE15722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5426867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0916F5AE-D647-178C-C9EF-F7ABE53D16F3}"/>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C35EEE67-FFEF-011B-C236-22D51B78471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D0DE3313-5006-B6D9-FE44-83435147CB6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4056338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7" name="Google Shape;20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4" name="Google Shape;2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1" name="Google Shape;22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8" name="Google Shape;2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5" name="Google Shape;23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1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4" name="Google Shape;14;p16"/>
          <p:cNvSpPr txBox="1">
            <a:spLocks noGrp="1"/>
          </p:cNvSpPr>
          <p:nvPr>
            <p:ph type="ctrTitle"/>
          </p:nvPr>
        </p:nvSpPr>
        <p:spPr>
          <a:xfrm>
            <a:off x="1371600" y="1803405"/>
            <a:ext cx="9448800" cy="182509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6"/>
          <p:cNvSpPr txBox="1">
            <a:spLocks noGrp="1"/>
          </p:cNvSpPr>
          <p:nvPr>
            <p:ph type="subTitle" idx="1"/>
          </p:nvPr>
        </p:nvSpPr>
        <p:spPr>
          <a:xfrm>
            <a:off x="1371600" y="3632201"/>
            <a:ext cx="9448800" cy="685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6" name="Google Shape;16;p16"/>
          <p:cNvSpPr txBox="1">
            <a:spLocks noGrp="1"/>
          </p:cNvSpPr>
          <p:nvPr>
            <p:ph type="dt" idx="10"/>
          </p:nvPr>
        </p:nvSpPr>
        <p:spPr>
          <a:xfrm>
            <a:off x="7909561" y="4314328"/>
            <a:ext cx="2910840" cy="37464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6"/>
          <p:cNvSpPr txBox="1">
            <a:spLocks noGrp="1"/>
          </p:cNvSpPr>
          <p:nvPr>
            <p:ph type="ftr" idx="11"/>
          </p:nvPr>
        </p:nvSpPr>
        <p:spPr>
          <a:xfrm>
            <a:off x="1371600" y="4323845"/>
            <a:ext cx="6400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6"/>
          <p:cNvSpPr txBox="1">
            <a:spLocks noGrp="1"/>
          </p:cNvSpPr>
          <p:nvPr>
            <p:ph type="sldNum" idx="12"/>
          </p:nvPr>
        </p:nvSpPr>
        <p:spPr>
          <a:xfrm>
            <a:off x="8077200" y="143086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 name="Google Shape;22;p17"/>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7"/>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5"/>
        <p:cNvGrpSpPr/>
        <p:nvPr/>
      </p:nvGrpSpPr>
      <p:grpSpPr>
        <a:xfrm>
          <a:off x="0" y="0"/>
          <a:ext cx="0" cy="0"/>
          <a:chOff x="0" y="0"/>
          <a:chExt cx="0" cy="0"/>
        </a:xfrm>
      </p:grpSpPr>
      <p:pic>
        <p:nvPicPr>
          <p:cNvPr id="26" name="Google Shape;26;p1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27" name="Google Shape;27;p18"/>
          <p:cNvSpPr txBox="1">
            <a:spLocks noGrp="1"/>
          </p:cNvSpPr>
          <p:nvPr>
            <p:ph type="title"/>
          </p:nvPr>
        </p:nvSpPr>
        <p:spPr>
          <a:xfrm>
            <a:off x="685800" y="753533"/>
            <a:ext cx="10820399" cy="2801935"/>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body" idx="1"/>
          </p:nvPr>
        </p:nvSpPr>
        <p:spPr>
          <a:xfrm>
            <a:off x="1024467" y="3641725"/>
            <a:ext cx="10490200" cy="955675"/>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2200"/>
              <a:buNone/>
              <a:defRPr sz="22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29" name="Google Shape;29;p18"/>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8"/>
          <p:cNvSpPr txBox="1">
            <a:spLocks noGrp="1"/>
          </p:cNvSpPr>
          <p:nvPr>
            <p:ph type="ftr" idx="11"/>
          </p:nvPr>
        </p:nvSpPr>
        <p:spPr>
          <a:xfrm>
            <a:off x="685800" y="381001"/>
            <a:ext cx="6991492" cy="36406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body" idx="1"/>
          </p:nvPr>
        </p:nvSpPr>
        <p:spPr>
          <a:xfrm>
            <a:off x="6858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 name="Google Shape;35;p19"/>
          <p:cNvSpPr txBox="1">
            <a:spLocks noGrp="1"/>
          </p:cNvSpPr>
          <p:nvPr>
            <p:ph type="body" idx="2"/>
          </p:nvPr>
        </p:nvSpPr>
        <p:spPr>
          <a:xfrm>
            <a:off x="61722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 name="Google Shape;36;p1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20"/>
          <p:cNvSpPr txBox="1">
            <a:spLocks noGrp="1"/>
          </p:cNvSpPr>
          <p:nvPr>
            <p:ph type="title"/>
          </p:nvPr>
        </p:nvSpPr>
        <p:spPr>
          <a:xfrm>
            <a:off x="2895600" y="762000"/>
            <a:ext cx="8610600"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0"/>
          <p:cNvSpPr txBox="1">
            <a:spLocks noGrp="1"/>
          </p:cNvSpPr>
          <p:nvPr>
            <p:ph type="body" idx="1"/>
          </p:nvPr>
        </p:nvSpPr>
        <p:spPr>
          <a:xfrm>
            <a:off x="914409" y="2183802"/>
            <a:ext cx="50799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2" name="Google Shape;42;p20"/>
          <p:cNvSpPr txBox="1">
            <a:spLocks noGrp="1"/>
          </p:cNvSpPr>
          <p:nvPr>
            <p:ph type="body" idx="2"/>
          </p:nvPr>
        </p:nvSpPr>
        <p:spPr>
          <a:xfrm>
            <a:off x="685800" y="3132666"/>
            <a:ext cx="5311775"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20"/>
          <p:cNvSpPr txBox="1">
            <a:spLocks noGrp="1"/>
          </p:cNvSpPr>
          <p:nvPr>
            <p:ph type="body" idx="3"/>
          </p:nvPr>
        </p:nvSpPr>
        <p:spPr>
          <a:xfrm>
            <a:off x="6400800" y="2183802"/>
            <a:ext cx="51054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4" name="Google Shape;44;p20"/>
          <p:cNvSpPr txBox="1">
            <a:spLocks noGrp="1"/>
          </p:cNvSpPr>
          <p:nvPr>
            <p:ph type="body" idx="4"/>
          </p:nvPr>
        </p:nvSpPr>
        <p:spPr>
          <a:xfrm>
            <a:off x="6172200" y="3132666"/>
            <a:ext cx="5334000"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2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2"/>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23"/>
          <p:cNvSpPr txBox="1">
            <a:spLocks noGrp="1"/>
          </p:cNvSpPr>
          <p:nvPr>
            <p:ph type="title"/>
          </p:nvPr>
        </p:nvSpPr>
        <p:spPr>
          <a:xfrm>
            <a:off x="685800" y="1524000"/>
            <a:ext cx="41148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body" idx="1"/>
          </p:nvPr>
        </p:nvSpPr>
        <p:spPr>
          <a:xfrm>
            <a:off x="4995582" y="746759"/>
            <a:ext cx="6510618" cy="5471925"/>
          </a:xfrm>
          <a:prstGeom prst="rect">
            <a:avLst/>
          </a:prstGeom>
          <a:noFill/>
          <a:ln>
            <a:noFill/>
          </a:ln>
        </p:spPr>
        <p:txBody>
          <a:bodyPr spcFirstLastPara="1" wrap="square" lIns="91425" tIns="45700" rIns="91425" bIns="45700" anchor="ctr"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0" name="Google Shape;60;p23"/>
          <p:cNvSpPr txBox="1">
            <a:spLocks noGrp="1"/>
          </p:cNvSpPr>
          <p:nvPr>
            <p:ph type="body" idx="2"/>
          </p:nvPr>
        </p:nvSpPr>
        <p:spPr>
          <a:xfrm>
            <a:off x="685800" y="3124199"/>
            <a:ext cx="411480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1" name="Google Shape;61;p23"/>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685800" y="1524000"/>
            <a:ext cx="687324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a:spLocks noGrp="1"/>
          </p:cNvSpPr>
          <p:nvPr>
            <p:ph type="pic" idx="2"/>
          </p:nvPr>
        </p:nvSpPr>
        <p:spPr>
          <a:xfrm>
            <a:off x="7861238" y="751241"/>
            <a:ext cx="3644962" cy="5467443"/>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67" name="Google Shape;67;p24"/>
          <p:cNvSpPr txBox="1">
            <a:spLocks noGrp="1"/>
          </p:cNvSpPr>
          <p:nvPr>
            <p:ph type="body" idx="1"/>
          </p:nvPr>
        </p:nvSpPr>
        <p:spPr>
          <a:xfrm>
            <a:off x="685800" y="3124199"/>
            <a:ext cx="687324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8" name="Google Shape;68;p24"/>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4"/>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1"/>
        <p:cNvGrpSpPr/>
        <p:nvPr/>
      </p:nvGrpSpPr>
      <p:grpSpPr>
        <a:xfrm>
          <a:off x="0" y="0"/>
          <a:ext cx="0" cy="0"/>
          <a:chOff x="0" y="0"/>
          <a:chExt cx="0" cy="0"/>
        </a:xfrm>
      </p:grpSpPr>
      <p:sp>
        <p:nvSpPr>
          <p:cNvPr id="72" name="Google Shape;72;p25"/>
          <p:cNvSpPr txBox="1">
            <a:spLocks noGrp="1"/>
          </p:cNvSpPr>
          <p:nvPr>
            <p:ph type="title"/>
          </p:nvPr>
        </p:nvSpPr>
        <p:spPr>
          <a:xfrm>
            <a:off x="685777" y="4697360"/>
            <a:ext cx="10822034"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a:spLocks noGrp="1"/>
          </p:cNvSpPr>
          <p:nvPr>
            <p:ph type="pic" idx="2"/>
          </p:nvPr>
        </p:nvSpPr>
        <p:spPr>
          <a:xfrm>
            <a:off x="681727" y="941439"/>
            <a:ext cx="10821840" cy="3478161"/>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74" name="Google Shape;74;p25"/>
          <p:cNvSpPr txBox="1">
            <a:spLocks noGrp="1"/>
          </p:cNvSpPr>
          <p:nvPr>
            <p:ph type="body" idx="1"/>
          </p:nvPr>
        </p:nvSpPr>
        <p:spPr>
          <a:xfrm>
            <a:off x="685800" y="5516715"/>
            <a:ext cx="10820400" cy="7019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75" name="Google Shape;75;p2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78"/>
        <p:cNvGrpSpPr/>
        <p:nvPr/>
      </p:nvGrpSpPr>
      <p:grpSpPr>
        <a:xfrm>
          <a:off x="0" y="0"/>
          <a:ext cx="0" cy="0"/>
          <a:chOff x="0" y="0"/>
          <a:chExt cx="0" cy="0"/>
        </a:xfrm>
      </p:grpSpPr>
      <p:pic>
        <p:nvPicPr>
          <p:cNvPr id="79" name="Google Shape;79;p2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0" name="Google Shape;80;p26"/>
          <p:cNvSpPr txBox="1">
            <a:spLocks noGrp="1"/>
          </p:cNvSpPr>
          <p:nvPr>
            <p:ph type="title"/>
          </p:nvPr>
        </p:nvSpPr>
        <p:spPr>
          <a:xfrm>
            <a:off x="685800" y="753532"/>
            <a:ext cx="10820400" cy="280246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txBox="1">
            <a:spLocks noGrp="1"/>
          </p:cNvSpPr>
          <p:nvPr>
            <p:ph type="body" idx="1"/>
          </p:nvPr>
        </p:nvSpPr>
        <p:spPr>
          <a:xfrm>
            <a:off x="1024467" y="3649133"/>
            <a:ext cx="10130516" cy="99906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2" name="Google Shape;82;p26"/>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6"/>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85"/>
        <p:cNvGrpSpPr/>
        <p:nvPr/>
      </p:nvGrpSpPr>
      <p:grpSpPr>
        <a:xfrm>
          <a:off x="0" y="0"/>
          <a:ext cx="0" cy="0"/>
          <a:chOff x="0" y="0"/>
          <a:chExt cx="0" cy="0"/>
        </a:xfrm>
      </p:grpSpPr>
      <p:pic>
        <p:nvPicPr>
          <p:cNvPr id="86" name="Google Shape;86;p27"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7" name="Google Shape;87;p27"/>
          <p:cNvSpPr txBox="1">
            <a:spLocks noGrp="1"/>
          </p:cNvSpPr>
          <p:nvPr>
            <p:ph type="title"/>
          </p:nvPr>
        </p:nvSpPr>
        <p:spPr>
          <a:xfrm>
            <a:off x="1024467" y="753533"/>
            <a:ext cx="10151533" cy="26044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7"/>
          <p:cNvSpPr txBox="1">
            <a:spLocks noGrp="1"/>
          </p:cNvSpPr>
          <p:nvPr>
            <p:ph type="body" idx="1"/>
          </p:nvPr>
        </p:nvSpPr>
        <p:spPr>
          <a:xfrm>
            <a:off x="1303865" y="3365556"/>
            <a:ext cx="9592736" cy="4444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9" name="Google Shape;89;p27"/>
          <p:cNvSpPr txBox="1">
            <a:spLocks noGrp="1"/>
          </p:cNvSpPr>
          <p:nvPr>
            <p:ph type="body" idx="2"/>
          </p:nvPr>
        </p:nvSpPr>
        <p:spPr>
          <a:xfrm>
            <a:off x="1024467" y="3959862"/>
            <a:ext cx="10151533" cy="67987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0" name="Google Shape;90;p27"/>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7"/>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95"/>
        <p:cNvGrpSpPr/>
        <p:nvPr/>
      </p:nvGrpSpPr>
      <p:grpSpPr>
        <a:xfrm>
          <a:off x="0" y="0"/>
          <a:ext cx="0" cy="0"/>
          <a:chOff x="0" y="0"/>
          <a:chExt cx="0" cy="0"/>
        </a:xfrm>
      </p:grpSpPr>
      <p:pic>
        <p:nvPicPr>
          <p:cNvPr id="96" name="Google Shape;96;p2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97" name="Google Shape;97;p28"/>
          <p:cNvSpPr txBox="1">
            <a:spLocks noGrp="1"/>
          </p:cNvSpPr>
          <p:nvPr>
            <p:ph type="title"/>
          </p:nvPr>
        </p:nvSpPr>
        <p:spPr>
          <a:xfrm>
            <a:off x="1024495" y="1124701"/>
            <a:ext cx="10146186"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8"/>
          <p:cNvSpPr txBox="1">
            <a:spLocks noGrp="1"/>
          </p:cNvSpPr>
          <p:nvPr>
            <p:ph type="body" idx="1"/>
          </p:nvPr>
        </p:nvSpPr>
        <p:spPr>
          <a:xfrm>
            <a:off x="1024467" y="3648315"/>
            <a:ext cx="10144654" cy="9998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9" name="Google Shape;99;p28"/>
          <p:cNvSpPr txBox="1">
            <a:spLocks noGrp="1"/>
          </p:cNvSpPr>
          <p:nvPr>
            <p:ph type="dt" idx="10"/>
          </p:nvPr>
        </p:nvSpPr>
        <p:spPr>
          <a:xfrm>
            <a:off x="7814452" y="378883"/>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ftr" idx="11"/>
          </p:nvPr>
        </p:nvSpPr>
        <p:spPr>
          <a:xfrm>
            <a:off x="685800" y="378883"/>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29"/>
          <p:cNvSpPr txBox="1">
            <a:spLocks noGrp="1"/>
          </p:cNvSpPr>
          <p:nvPr>
            <p:ph type="title"/>
          </p:nvPr>
        </p:nvSpPr>
        <p:spPr>
          <a:xfrm>
            <a:off x="2895600" y="761999"/>
            <a:ext cx="8610599" cy="1303867"/>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a:off x="685800" y="2202080"/>
            <a:ext cx="3456432" cy="61732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5" name="Google Shape;105;p29"/>
          <p:cNvSpPr txBox="1">
            <a:spLocks noGrp="1"/>
          </p:cNvSpPr>
          <p:nvPr>
            <p:ph type="body" idx="2"/>
          </p:nvPr>
        </p:nvSpPr>
        <p:spPr>
          <a:xfrm>
            <a:off x="685799"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6" name="Google Shape;106;p29"/>
          <p:cNvSpPr txBox="1">
            <a:spLocks noGrp="1"/>
          </p:cNvSpPr>
          <p:nvPr>
            <p:ph type="body" idx="3"/>
          </p:nvPr>
        </p:nvSpPr>
        <p:spPr>
          <a:xfrm>
            <a:off x="4368800" y="2201333"/>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7" name="Google Shape;107;p29"/>
          <p:cNvSpPr txBox="1">
            <a:spLocks noGrp="1"/>
          </p:cNvSpPr>
          <p:nvPr>
            <p:ph type="body" idx="4"/>
          </p:nvPr>
        </p:nvSpPr>
        <p:spPr>
          <a:xfrm>
            <a:off x="4366858" y="2904067"/>
            <a:ext cx="3456432" cy="331461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8" name="Google Shape;108;p29"/>
          <p:cNvSpPr txBox="1">
            <a:spLocks noGrp="1"/>
          </p:cNvSpPr>
          <p:nvPr>
            <p:ph type="body" idx="5"/>
          </p:nvPr>
        </p:nvSpPr>
        <p:spPr>
          <a:xfrm>
            <a:off x="8051800" y="2192866"/>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9" name="Google Shape;109;p29"/>
          <p:cNvSpPr txBox="1">
            <a:spLocks noGrp="1"/>
          </p:cNvSpPr>
          <p:nvPr>
            <p:ph type="body" idx="6"/>
          </p:nvPr>
        </p:nvSpPr>
        <p:spPr>
          <a:xfrm>
            <a:off x="8051801"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0" name="Google Shape;110;p2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3"/>
        <p:cNvGrpSpPr/>
        <p:nvPr/>
      </p:nvGrpSpPr>
      <p:grpSpPr>
        <a:xfrm>
          <a:off x="0" y="0"/>
          <a:ext cx="0" cy="0"/>
          <a:chOff x="0" y="0"/>
          <a:chExt cx="0" cy="0"/>
        </a:xfrm>
      </p:grpSpPr>
      <p:sp>
        <p:nvSpPr>
          <p:cNvPr id="114" name="Google Shape;114;p30"/>
          <p:cNvSpPr txBox="1">
            <a:spLocks noGrp="1"/>
          </p:cNvSpPr>
          <p:nvPr>
            <p:ph type="title"/>
          </p:nvPr>
        </p:nvSpPr>
        <p:spPr>
          <a:xfrm>
            <a:off x="2895600" y="762000"/>
            <a:ext cx="8610599"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30"/>
          <p:cNvSpPr txBox="1">
            <a:spLocks noGrp="1"/>
          </p:cNvSpPr>
          <p:nvPr>
            <p:ph type="body" idx="1"/>
          </p:nvPr>
        </p:nvSpPr>
        <p:spPr>
          <a:xfrm>
            <a:off x="688618" y="4191000"/>
            <a:ext cx="3451582"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6" name="Google Shape;116;p30"/>
          <p:cNvSpPr>
            <a:spLocks noGrp="1"/>
          </p:cNvSpPr>
          <p:nvPr>
            <p:ph type="pic" idx="2"/>
          </p:nvPr>
        </p:nvSpPr>
        <p:spPr>
          <a:xfrm>
            <a:off x="688618" y="2362200"/>
            <a:ext cx="3451582"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17" name="Google Shape;117;p30"/>
          <p:cNvSpPr txBox="1">
            <a:spLocks noGrp="1"/>
          </p:cNvSpPr>
          <p:nvPr>
            <p:ph type="body" idx="3"/>
          </p:nvPr>
        </p:nvSpPr>
        <p:spPr>
          <a:xfrm>
            <a:off x="688618" y="4873764"/>
            <a:ext cx="3451582"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8" name="Google Shape;118;p30"/>
          <p:cNvSpPr txBox="1">
            <a:spLocks noGrp="1"/>
          </p:cNvSpPr>
          <p:nvPr>
            <p:ph type="body" idx="4"/>
          </p:nvPr>
        </p:nvSpPr>
        <p:spPr>
          <a:xfrm>
            <a:off x="4374263" y="4191000"/>
            <a:ext cx="3448935"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9" name="Google Shape;119;p30"/>
          <p:cNvSpPr>
            <a:spLocks noGrp="1"/>
          </p:cNvSpPr>
          <p:nvPr>
            <p:ph type="pic" idx="5"/>
          </p:nvPr>
        </p:nvSpPr>
        <p:spPr>
          <a:xfrm>
            <a:off x="4374263" y="2362200"/>
            <a:ext cx="3448936"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0" name="Google Shape;120;p30"/>
          <p:cNvSpPr txBox="1">
            <a:spLocks noGrp="1"/>
          </p:cNvSpPr>
          <p:nvPr>
            <p:ph type="body" idx="6"/>
          </p:nvPr>
        </p:nvSpPr>
        <p:spPr>
          <a:xfrm>
            <a:off x="4374264" y="4873763"/>
            <a:ext cx="344893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1" name="Google Shape;121;p30"/>
          <p:cNvSpPr txBox="1">
            <a:spLocks noGrp="1"/>
          </p:cNvSpPr>
          <p:nvPr>
            <p:ph type="body" idx="7"/>
          </p:nvPr>
        </p:nvSpPr>
        <p:spPr>
          <a:xfrm>
            <a:off x="8049731" y="4191000"/>
            <a:ext cx="3456469"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2" name="Google Shape;122;p30"/>
          <p:cNvSpPr>
            <a:spLocks noGrp="1"/>
          </p:cNvSpPr>
          <p:nvPr>
            <p:ph type="pic" idx="8"/>
          </p:nvPr>
        </p:nvSpPr>
        <p:spPr>
          <a:xfrm>
            <a:off x="8049855" y="2362200"/>
            <a:ext cx="3447878"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3" name="Google Shape;123;p30"/>
          <p:cNvSpPr txBox="1">
            <a:spLocks noGrp="1"/>
          </p:cNvSpPr>
          <p:nvPr>
            <p:ph type="body" idx="9"/>
          </p:nvPr>
        </p:nvSpPr>
        <p:spPr>
          <a:xfrm>
            <a:off x="8049731" y="4873761"/>
            <a:ext cx="345244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4" name="Google Shape;124;p3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3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3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3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31"/>
          <p:cNvSpPr txBox="1">
            <a:spLocks noGrp="1"/>
          </p:cNvSpPr>
          <p:nvPr>
            <p:ph type="body" idx="1"/>
          </p:nvPr>
        </p:nvSpPr>
        <p:spPr>
          <a:xfrm rot="5400000">
            <a:off x="4083937" y="-1203579"/>
            <a:ext cx="4024125" cy="10820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0" name="Google Shape;130;p3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32"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35" name="Google Shape;135;p32"/>
          <p:cNvSpPr txBox="1">
            <a:spLocks noGrp="1"/>
          </p:cNvSpPr>
          <p:nvPr>
            <p:ph type="title"/>
          </p:nvPr>
        </p:nvSpPr>
        <p:spPr>
          <a:xfrm rot="5400000">
            <a:off x="8525933" y="1667933"/>
            <a:ext cx="3903133" cy="2057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32"/>
          <p:cNvSpPr txBox="1">
            <a:spLocks noGrp="1"/>
          </p:cNvSpPr>
          <p:nvPr>
            <p:ph type="body" idx="1"/>
          </p:nvPr>
        </p:nvSpPr>
        <p:spPr>
          <a:xfrm rot="5400000">
            <a:off x="3175000" y="-1405467"/>
            <a:ext cx="3903133" cy="82042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7" name="Google Shape;137;p32"/>
          <p:cNvSpPr txBox="1">
            <a:spLocks noGrp="1"/>
          </p:cNvSpPr>
          <p:nvPr>
            <p:ph type="dt" idx="10"/>
          </p:nvPr>
        </p:nvSpPr>
        <p:spPr>
          <a:xfrm>
            <a:off x="7814452" y="379941"/>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32"/>
          <p:cNvSpPr txBox="1">
            <a:spLocks noGrp="1"/>
          </p:cNvSpPr>
          <p:nvPr>
            <p:ph type="ftr" idx="11"/>
          </p:nvPr>
        </p:nvSpPr>
        <p:spPr>
          <a:xfrm>
            <a:off x="685800" y="381000"/>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32"/>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pic>
        <p:nvPicPr>
          <p:cNvPr id="6" name="Google Shape;6;p15" descr="C0-HD-TOP.png"/>
          <p:cNvPicPr preferRelativeResize="0"/>
          <p:nvPr/>
        </p:nvPicPr>
        <p:blipFill rotWithShape="1">
          <a:blip r:embed="rId19">
            <a:alphaModFix/>
          </a:blip>
          <a:srcRect/>
          <a:stretch/>
        </p:blipFill>
        <p:spPr>
          <a:xfrm>
            <a:off x="0" y="0"/>
            <a:ext cx="12192000" cy="1441450"/>
          </a:xfrm>
          <a:prstGeom prst="rect">
            <a:avLst/>
          </a:prstGeom>
          <a:noFill/>
          <a:ln>
            <a:noFill/>
          </a:ln>
        </p:spPr>
      </p:pic>
      <p:sp>
        <p:nvSpPr>
          <p:cNvPr id="7" name="Google Shape;7;p1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marR="0" lvl="0" algn="r" rtl="0">
              <a:lnSpc>
                <a:spcPct val="90000"/>
              </a:lnSpc>
              <a:spcBef>
                <a:spcPts val="0"/>
              </a:spcBef>
              <a:spcAft>
                <a:spcPts val="0"/>
              </a:spcAft>
              <a:buClr>
                <a:schemeClr val="lt1"/>
              </a:buClr>
              <a:buSzPts val="40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90000"/>
              </a:lnSpc>
              <a:spcBef>
                <a:spcPts val="1000"/>
              </a:spcBef>
              <a:spcAft>
                <a:spcPts val="0"/>
              </a:spcAft>
              <a:buClr>
                <a:schemeClr val="lt1"/>
              </a:buClr>
              <a:buSzPts val="22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1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 name="Google Shape;10;p1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1" name="Google Shape;11;p1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10.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tags" Target="../tags/tag1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tags" Target="../tags/tag1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tags" Target="../tags/tag13.xml"/><Relationship Id="rId6" Type="http://schemas.openxmlformats.org/officeDocument/2006/relationships/image" Target="../media/image12.png"/><Relationship Id="rId5" Type="http://schemas.openxmlformats.org/officeDocument/2006/relationships/image" Target="../media/image11.jpe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4.xml"/><Relationship Id="rId5" Type="http://schemas.openxmlformats.org/officeDocument/2006/relationships/image" Target="../media/image3.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6.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7.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8.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9.xml"/><Relationship Id="rId5" Type="http://schemas.openxmlformats.org/officeDocument/2006/relationships/image" Target="../media/image3.png"/><Relationship Id="rId4" Type="http://schemas.openxmlformats.org/officeDocument/2006/relationships/hyperlink" Target="https://doi.org/10.58012/fywc-yq5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ctrTitle"/>
          </p:nvPr>
        </p:nvSpPr>
        <p:spPr>
          <a:xfrm>
            <a:off x="1371600" y="1790153"/>
            <a:ext cx="9448800" cy="182509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entury Gothic"/>
              <a:buNone/>
            </a:pPr>
            <a:r>
              <a:rPr lang="en-US"/>
              <a:t>Green Pace</a:t>
            </a:r>
            <a:endParaRPr/>
          </a:p>
        </p:txBody>
      </p:sp>
      <p:sp>
        <p:nvSpPr>
          <p:cNvPr id="145" name="Google Shape;145;p1"/>
          <p:cNvSpPr txBox="1">
            <a:spLocks noGrp="1"/>
          </p:cNvSpPr>
          <p:nvPr>
            <p:ph type="subTitle" idx="1"/>
          </p:nvPr>
        </p:nvSpPr>
        <p:spPr>
          <a:xfrm>
            <a:off x="1371600" y="3632200"/>
            <a:ext cx="9448800" cy="1561592"/>
          </a:xfrm>
          <a:prstGeom prst="rect">
            <a:avLst/>
          </a:prstGeom>
          <a:noFill/>
          <a:ln>
            <a:noFill/>
          </a:ln>
        </p:spPr>
        <p:txBody>
          <a:bodyPr spcFirstLastPara="1" wrap="square" lIns="91425" tIns="45700" rIns="91425" bIns="45700" anchor="t" anchorCtr="0">
            <a:normAutofit/>
          </a:bodyPr>
          <a:lstStyle/>
          <a:p>
            <a:pPr marL="0" lvl="0" indent="0" algn="l" rtl="0">
              <a:lnSpc>
                <a:spcPct val="70000"/>
              </a:lnSpc>
              <a:spcBef>
                <a:spcPts val="0"/>
              </a:spcBef>
              <a:spcAft>
                <a:spcPts val="0"/>
              </a:spcAft>
              <a:buClr>
                <a:schemeClr val="lt1"/>
              </a:buClr>
              <a:buSzPts val="1850"/>
              <a:buNone/>
            </a:pPr>
            <a:r>
              <a:rPr lang="en-US" sz="1850"/>
              <a:t>Security Policy Presentation</a:t>
            </a:r>
            <a:endParaRPr/>
          </a:p>
          <a:p>
            <a:pPr marL="0" indent="0">
              <a:lnSpc>
                <a:spcPct val="70000"/>
              </a:lnSpc>
              <a:buSzPts val="1850"/>
            </a:pPr>
            <a:r>
              <a:rPr lang="en-US" sz="1850"/>
              <a:t>Developer: </a:t>
            </a:r>
            <a:r>
              <a:rPr lang="en-US" sz="1850" i="1"/>
              <a:t>Summer Stinnett </a:t>
            </a:r>
            <a:endParaRPr/>
          </a:p>
          <a:p>
            <a:pPr marL="0" lvl="0" indent="0" algn="l" rtl="0">
              <a:lnSpc>
                <a:spcPct val="70000"/>
              </a:lnSpc>
              <a:spcBef>
                <a:spcPts val="1000"/>
              </a:spcBef>
              <a:spcAft>
                <a:spcPts val="0"/>
              </a:spcAft>
              <a:buSzPts val="1850"/>
              <a:buNone/>
            </a:pPr>
            <a:endParaRPr sz="1850" i="1"/>
          </a:p>
        </p:txBody>
      </p:sp>
      <p:pic>
        <p:nvPicPr>
          <p:cNvPr id="146" name="Google Shape;146;p1" descr="Green Pace logo"/>
          <p:cNvPicPr preferRelativeResize="0"/>
          <p:nvPr/>
        </p:nvPicPr>
        <p:blipFill>
          <a:blip r:embed="rId4">
            <a:alphaModFix/>
          </a:blip>
          <a:stretch>
            <a:fillRect/>
          </a:stretch>
        </p:blipFill>
        <p:spPr>
          <a:xfrm>
            <a:off x="7440774" y="659854"/>
            <a:ext cx="2921424" cy="3786772"/>
          </a:xfrm>
          <a:prstGeom prst="rect">
            <a:avLst/>
          </a:prstGeom>
          <a:noFill/>
          <a:ln>
            <a:noFill/>
          </a:ln>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OVERVIEW: DEFENSE IN DEPTH</a:t>
            </a:r>
            <a:endParaRPr/>
          </a:p>
        </p:txBody>
      </p:sp>
      <p:sp>
        <p:nvSpPr>
          <p:cNvPr id="152" name="Google Shape;152;p3"/>
          <p:cNvSpPr txBox="1">
            <a:spLocks noGrp="1"/>
          </p:cNvSpPr>
          <p:nvPr>
            <p:ph type="body" idx="1"/>
          </p:nvPr>
        </p:nvSpPr>
        <p:spPr>
          <a:xfrm>
            <a:off x="685800" y="2194560"/>
            <a:ext cx="4251768" cy="4024125"/>
          </a:xfrm>
          <a:prstGeom prst="rect">
            <a:avLst/>
          </a:prstGeom>
          <a:noFill/>
          <a:ln>
            <a:noFill/>
          </a:ln>
        </p:spPr>
        <p:txBody>
          <a:bodyPr spcFirstLastPara="1" wrap="square" lIns="91425" tIns="45700" rIns="91425" bIns="45700" anchor="t" anchorCtr="0">
            <a:normAutofit fontScale="92500" lnSpcReduction="10000"/>
          </a:bodyPr>
          <a:lstStyle/>
          <a:p>
            <a:pPr marL="685800" indent="0">
              <a:lnSpc>
                <a:spcPct val="200000"/>
              </a:lnSpc>
              <a:spcBef>
                <a:spcPts val="0"/>
              </a:spcBef>
              <a:buNone/>
            </a:pPr>
            <a:r>
              <a:rPr lang="en-US" sz="1600" dirty="0">
                <a:solidFill>
                  <a:srgbClr val="FFFFFF"/>
                </a:solidFill>
                <a:ea typeface="Calibri"/>
                <a:cs typeface="Calibri"/>
              </a:rPr>
              <a:t>Green Pace requires consistent implementation of secure </a:t>
            </a:r>
            <a:r>
              <a:rPr lang="en-US" sz="1600">
                <a:solidFill>
                  <a:srgbClr val="FFFFFF"/>
                </a:solidFill>
                <a:ea typeface="Calibri"/>
                <a:cs typeface="Calibri"/>
              </a:rPr>
              <a:t>principles to all parts around the product. Consistent, layered approaches and methodologies must be implemented within all procedures and supported over time to help </a:t>
            </a:r>
            <a:r>
              <a:rPr lang="en-US" sz="1600" dirty="0">
                <a:solidFill>
                  <a:srgbClr val="FFFFFF"/>
                </a:solidFill>
                <a:ea typeface="Calibri"/>
                <a:cs typeface="Calibri"/>
              </a:rPr>
              <a:t>ensure a stable, secure platform for the product.</a:t>
            </a:r>
            <a:endParaRPr lang="en-US"/>
          </a:p>
          <a:p>
            <a:pPr marL="0" lvl="0" indent="0" algn="l" rtl="0">
              <a:lnSpc>
                <a:spcPct val="90000"/>
              </a:lnSpc>
              <a:spcBef>
                <a:spcPts val="1000"/>
              </a:spcBef>
              <a:spcAft>
                <a:spcPts val="0"/>
              </a:spcAft>
              <a:buClr>
                <a:schemeClr val="lt1"/>
              </a:buClr>
              <a:buSzPts val="2200"/>
              <a:buNone/>
            </a:pPr>
            <a:endParaRPr/>
          </a:p>
        </p:txBody>
      </p:sp>
      <p:pic>
        <p:nvPicPr>
          <p:cNvPr id="153"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referRelativeResize="0"/>
          <p:nvPr/>
        </p:nvPicPr>
        <p:blipFill rotWithShape="1">
          <a:blip r:embed="rId4">
            <a:alphaModFix/>
          </a:blip>
          <a:srcRect/>
          <a:stretch/>
        </p:blipFill>
        <p:spPr>
          <a:xfrm>
            <a:off x="5301960" y="2212449"/>
            <a:ext cx="6453257" cy="3797196"/>
          </a:xfrm>
          <a:prstGeom prst="rect">
            <a:avLst/>
          </a:prstGeom>
          <a:noFill/>
          <a:ln>
            <a:noFill/>
          </a:ln>
        </p:spPr>
      </p:pic>
      <p:pic>
        <p:nvPicPr>
          <p:cNvPr id="154" name="Google Shape;154;p3"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THREATS MATRIX</a:t>
            </a:r>
            <a:endParaRPr/>
          </a:p>
        </p:txBody>
      </p:sp>
      <p:sp>
        <p:nvSpPr>
          <p:cNvPr id="160" name="Google Shape;160;p4"/>
          <p:cNvSpPr txBox="1">
            <a:spLocks noGrp="1"/>
          </p:cNvSpPr>
          <p:nvPr>
            <p:ph type="body" idx="1"/>
          </p:nvPr>
        </p:nvSpPr>
        <p:spPr>
          <a:xfrm>
            <a:off x="685800" y="2194550"/>
            <a:ext cx="2486100" cy="4024200"/>
          </a:xfrm>
          <a:prstGeom prst="rect">
            <a:avLst/>
          </a:prstGeom>
          <a:noFill/>
          <a:ln>
            <a:noFill/>
          </a:ln>
        </p:spPr>
        <p:txBody>
          <a:bodyPr spcFirstLastPara="1" wrap="square" lIns="91425" tIns="45700" rIns="91425" bIns="45700" anchor="t" anchorCtr="0">
            <a:normAutofit/>
          </a:bodyPr>
          <a:lstStyle/>
          <a:p>
            <a:pPr marL="228600" indent="0">
              <a:lnSpc>
                <a:spcPct val="107916"/>
              </a:lnSpc>
              <a:spcBef>
                <a:spcPts val="0"/>
              </a:spcBef>
              <a:buNone/>
            </a:pPr>
            <a:r>
              <a:rPr lang="en-US" sz="1400"/>
              <a:t>Likely: </a:t>
            </a:r>
          </a:p>
          <a:p>
            <a:pPr marL="228600" indent="0">
              <a:lnSpc>
                <a:spcPct val="107915"/>
              </a:lnSpc>
              <a:spcBef>
                <a:spcPts val="0"/>
              </a:spcBef>
              <a:buNone/>
            </a:pPr>
            <a:r>
              <a:rPr lang="en-US" sz="1400" dirty="0"/>
              <a:t>High chance to </a:t>
            </a:r>
            <a:r>
              <a:rPr lang="en-US" sz="1400"/>
              <a:t>cause issues</a:t>
            </a:r>
            <a:endParaRPr lang="en-US" sz="1400" dirty="0"/>
          </a:p>
          <a:p>
            <a:pPr marL="228600" indent="0">
              <a:lnSpc>
                <a:spcPct val="107915"/>
              </a:lnSpc>
              <a:spcBef>
                <a:spcPts val="0"/>
              </a:spcBef>
              <a:buNone/>
            </a:pPr>
            <a:endParaRPr lang="en-US" sz="1400" dirty="0"/>
          </a:p>
          <a:p>
            <a:pPr marL="228600" indent="0">
              <a:lnSpc>
                <a:spcPct val="107915"/>
              </a:lnSpc>
              <a:spcBef>
                <a:spcPts val="0"/>
              </a:spcBef>
              <a:buNone/>
            </a:pPr>
            <a:r>
              <a:rPr lang="en-US" sz="1400"/>
              <a:t>Unlikely:</a:t>
            </a:r>
            <a:endParaRPr lang="en-US" sz="1400">
              <a:solidFill>
                <a:srgbClr val="000000"/>
              </a:solidFill>
            </a:endParaRPr>
          </a:p>
          <a:p>
            <a:pPr marL="228600" indent="0">
              <a:lnSpc>
                <a:spcPct val="107915"/>
              </a:lnSpc>
              <a:spcBef>
                <a:spcPts val="0"/>
              </a:spcBef>
              <a:buNone/>
            </a:pPr>
            <a:r>
              <a:rPr lang="en-US" sz="1400" dirty="0"/>
              <a:t>Low chance to </a:t>
            </a:r>
            <a:r>
              <a:rPr lang="en-US" sz="1400"/>
              <a:t>cause issue</a:t>
            </a:r>
            <a:endParaRPr lang="en-US" dirty="0" err="1"/>
          </a:p>
          <a:p>
            <a:pPr marL="228600" indent="0">
              <a:lnSpc>
                <a:spcPct val="107915"/>
              </a:lnSpc>
              <a:spcBef>
                <a:spcPts val="0"/>
              </a:spcBef>
              <a:buNone/>
            </a:pPr>
            <a:endParaRPr lang="en-US" sz="1400" dirty="0"/>
          </a:p>
          <a:p>
            <a:pPr marL="228600" indent="0">
              <a:lnSpc>
                <a:spcPct val="107915"/>
              </a:lnSpc>
              <a:spcBef>
                <a:spcPts val="0"/>
              </a:spcBef>
              <a:buNone/>
            </a:pPr>
            <a:r>
              <a:rPr lang="en-US" sz="1400"/>
              <a:t>Priority:</a:t>
            </a:r>
            <a:endParaRPr lang="en-US" sz="1400" dirty="0"/>
          </a:p>
          <a:p>
            <a:pPr marL="228600" indent="0">
              <a:lnSpc>
                <a:spcPct val="107915"/>
              </a:lnSpc>
              <a:spcBef>
                <a:spcPts val="0"/>
              </a:spcBef>
              <a:buNone/>
            </a:pPr>
            <a:r>
              <a:rPr lang="en-US" sz="1400" dirty="0"/>
              <a:t>Likely to occur as well </a:t>
            </a:r>
            <a:r>
              <a:rPr lang="en-US" sz="1400"/>
              <a:t>high severity potential</a:t>
            </a:r>
          </a:p>
          <a:p>
            <a:pPr marL="228600" indent="0">
              <a:lnSpc>
                <a:spcPct val="107915"/>
              </a:lnSpc>
              <a:spcBef>
                <a:spcPts val="0"/>
              </a:spcBef>
              <a:buNone/>
            </a:pPr>
            <a:endParaRPr lang="en-US" sz="1400" dirty="0"/>
          </a:p>
          <a:p>
            <a:pPr marL="228600" indent="0">
              <a:lnSpc>
                <a:spcPct val="107915"/>
              </a:lnSpc>
              <a:spcBef>
                <a:spcPts val="0"/>
              </a:spcBef>
              <a:buNone/>
            </a:pPr>
            <a:r>
              <a:rPr lang="en-US" sz="1400"/>
              <a:t>Low Priority:</a:t>
            </a:r>
          </a:p>
          <a:p>
            <a:pPr marL="228600" indent="0">
              <a:lnSpc>
                <a:spcPct val="107915"/>
              </a:lnSpc>
              <a:spcBef>
                <a:spcPts val="0"/>
              </a:spcBef>
              <a:buNone/>
            </a:pPr>
            <a:r>
              <a:rPr lang="en-US" sz="1400" dirty="0"/>
              <a:t>Not </a:t>
            </a:r>
            <a:r>
              <a:rPr lang="en-US" sz="1400"/>
              <a:t>likely and/or low severity</a:t>
            </a:r>
            <a:endParaRPr lang="en-US" sz="1400" dirty="0"/>
          </a:p>
          <a:p>
            <a:pPr marL="228600" indent="0">
              <a:lnSpc>
                <a:spcPct val="107915"/>
              </a:lnSpc>
              <a:spcBef>
                <a:spcPts val="0"/>
              </a:spcBef>
              <a:buNone/>
            </a:pPr>
            <a:endParaRPr lang="en-US" sz="1400" dirty="0"/>
          </a:p>
          <a:p>
            <a:pPr marL="228600" indent="0">
              <a:lnSpc>
                <a:spcPct val="107915"/>
              </a:lnSpc>
              <a:spcBef>
                <a:spcPts val="0"/>
              </a:spcBef>
              <a:buNone/>
            </a:pPr>
            <a:endParaRPr lang="en-US" sz="1400" dirty="0"/>
          </a:p>
          <a:p>
            <a:pPr marL="228600" indent="-88900">
              <a:buSzPts val="2200"/>
              <a:buNone/>
            </a:pPr>
            <a:endParaRPr lang="en-US"/>
          </a:p>
        </p:txBody>
      </p:sp>
      <p:graphicFrame>
        <p:nvGraphicFramePr>
          <p:cNvPr id="161" name="Google Shape;161;p4" descr="Alt text required"/>
          <p:cNvGraphicFramePr/>
          <p:nvPr>
            <p:extLst>
              <p:ext uri="{D42A27DB-BD31-4B8C-83A1-F6EECF244321}">
                <p14:modId xmlns:p14="http://schemas.microsoft.com/office/powerpoint/2010/main" val="4062838926"/>
              </p:ext>
            </p:extLst>
          </p:nvPr>
        </p:nvGraphicFramePr>
        <p:xfrm>
          <a:off x="3171900" y="2561050"/>
          <a:ext cx="7835225" cy="3538650"/>
        </p:xfrm>
        <a:graphic>
          <a:graphicData uri="http://schemas.openxmlformats.org/drawingml/2006/table">
            <a:tbl>
              <a:tblPr firstRow="1" firstCol="1">
                <a:noFill/>
                <a:tableStyleId>{802198C4-3087-4945-87E3-76CBB3509B7E}</a:tableStyleId>
              </a:tblPr>
              <a:tblGrid>
                <a:gridCol w="4030425">
                  <a:extLst>
                    <a:ext uri="{9D8B030D-6E8A-4147-A177-3AD203B41FA5}">
                      <a16:colId xmlns:a16="http://schemas.microsoft.com/office/drawing/2014/main" val="20000"/>
                    </a:ext>
                  </a:extLst>
                </a:gridCol>
                <a:gridCol w="3804800">
                  <a:extLst>
                    <a:ext uri="{9D8B030D-6E8A-4147-A177-3AD203B41FA5}">
                      <a16:colId xmlns:a16="http://schemas.microsoft.com/office/drawing/2014/main" val="20001"/>
                    </a:ext>
                  </a:extLst>
                </a:gridCol>
              </a:tblGrid>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1600" u="sng" strike="noStrike" cap="none" dirty="0">
                          <a:solidFill>
                            <a:schemeClr val="bg1"/>
                          </a:solidFill>
                          <a:latin typeface="Century Gothic"/>
                        </a:rPr>
                        <a:t>Likely</a:t>
                      </a:r>
                      <a:endParaRPr sz="1600" u="sng" strike="noStrike" cap="none">
                        <a:solidFill>
                          <a:schemeClr val="bg1"/>
                        </a:solidFill>
                        <a:latin typeface="Century Gothic"/>
                      </a:endParaRPr>
                    </a:p>
                    <a:p>
                      <a:pPr marL="0" marR="0" lvl="0" indent="0" algn="ctr" rtl="0">
                        <a:lnSpc>
                          <a:spcPct val="100000"/>
                        </a:lnSpc>
                        <a:spcBef>
                          <a:spcPts val="0"/>
                        </a:spcBef>
                        <a:spcAft>
                          <a:spcPts val="0"/>
                        </a:spcAft>
                        <a:buClr>
                          <a:srgbClr val="000000"/>
                        </a:buClr>
                        <a:buSzPts val="3600"/>
                        <a:buFont typeface="Arial"/>
                        <a:buNone/>
                      </a:pPr>
                      <a:r>
                        <a:rPr lang="en-US" sz="1600" u="none" strike="noStrike" cap="none">
                          <a:solidFill>
                            <a:schemeClr val="bg1"/>
                          </a:solidFill>
                          <a:latin typeface="Century Gothic"/>
                        </a:rPr>
                        <a:t>STD-002, STD-005</a:t>
                      </a:r>
                      <a:endParaRPr lang="en-US" sz="1600" u="none" strike="noStrike" cap="none" dirty="0">
                        <a:solidFill>
                          <a:schemeClr val="bg1"/>
                        </a:solidFill>
                        <a:latin typeface="Century Gothic"/>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ED7D31"/>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1600" u="sng" strike="noStrike" cap="none" dirty="0">
                          <a:solidFill>
                            <a:schemeClr val="bg1"/>
                          </a:solidFill>
                          <a:latin typeface="Century Gothic"/>
                        </a:rPr>
                        <a:t>Priority</a:t>
                      </a:r>
                      <a:endParaRPr sz="1600" u="sng" strike="noStrike" cap="none">
                        <a:solidFill>
                          <a:schemeClr val="bg1"/>
                        </a:solidFill>
                        <a:latin typeface="Century Gothic"/>
                      </a:endParaRPr>
                    </a:p>
                    <a:p>
                      <a:pPr marL="0" marR="0" lvl="0" indent="0" algn="ctr" rtl="0">
                        <a:lnSpc>
                          <a:spcPct val="100000"/>
                        </a:lnSpc>
                        <a:spcBef>
                          <a:spcPts val="0"/>
                        </a:spcBef>
                        <a:spcAft>
                          <a:spcPts val="0"/>
                        </a:spcAft>
                        <a:buClr>
                          <a:srgbClr val="000000"/>
                        </a:buClr>
                        <a:buSzPts val="3600"/>
                        <a:buFont typeface="Arial"/>
                        <a:buNone/>
                      </a:pPr>
                      <a:r>
                        <a:rPr lang="en-US" sz="1600" u="none" strike="noStrike" cap="none">
                          <a:solidFill>
                            <a:schemeClr val="bg1"/>
                          </a:solidFill>
                          <a:latin typeface="Century Gothic"/>
                        </a:rPr>
                        <a:t>STD-004, STD-007, STD-008</a:t>
                      </a:r>
                      <a:endParaRPr lang="en-US" sz="1600" u="none" strike="noStrike" cap="none" dirty="0">
                        <a:solidFill>
                          <a:schemeClr val="bg1"/>
                        </a:solidFill>
                        <a:latin typeface="Century Gothic"/>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ED7D31"/>
                    </a:solidFill>
                  </a:tcPr>
                </a:tc>
                <a:extLst>
                  <a:ext uri="{0D108BD9-81ED-4DB2-BD59-A6C34878D82A}">
                    <a16:rowId xmlns:a16="http://schemas.microsoft.com/office/drawing/2014/main" val="10000"/>
                  </a:ext>
                </a:extLst>
              </a:tr>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1600" u="sng" strike="noStrike" cap="none">
                          <a:solidFill>
                            <a:schemeClr val="bg1"/>
                          </a:solidFill>
                          <a:latin typeface="Century Gothic"/>
                        </a:rPr>
                        <a:t>Low priority</a:t>
                      </a:r>
                      <a:endParaRPr sz="1600" u="sng" strike="noStrike" cap="none">
                        <a:solidFill>
                          <a:schemeClr val="bg1"/>
                        </a:solidFill>
                        <a:latin typeface="Century Gothic"/>
                      </a:endParaRPr>
                    </a:p>
                    <a:p>
                      <a:pPr marL="0" marR="0" lvl="0" indent="0" algn="ctr">
                        <a:lnSpc>
                          <a:spcPct val="100000"/>
                        </a:lnSpc>
                        <a:spcBef>
                          <a:spcPts val="0"/>
                        </a:spcBef>
                        <a:spcAft>
                          <a:spcPts val="0"/>
                        </a:spcAft>
                        <a:buNone/>
                      </a:pPr>
                      <a:r>
                        <a:rPr lang="en-US" sz="1600" b="0" i="0" u="none" strike="noStrike" cap="none" noProof="0">
                          <a:solidFill>
                            <a:schemeClr val="bg1"/>
                          </a:solidFill>
                          <a:latin typeface="Century Gothic"/>
                        </a:rPr>
                        <a:t>STD-009</a:t>
                      </a:r>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ED7D31"/>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1600" u="sng" strike="noStrike" cap="none" dirty="0">
                          <a:solidFill>
                            <a:schemeClr val="bg1"/>
                          </a:solidFill>
                          <a:latin typeface="Century Gothic"/>
                        </a:rPr>
                        <a:t>Unlikely</a:t>
                      </a:r>
                      <a:endParaRPr sz="1600" u="sng" strike="noStrike" cap="none">
                        <a:solidFill>
                          <a:schemeClr val="bg1"/>
                        </a:solidFill>
                        <a:latin typeface="Century Gothic"/>
                      </a:endParaRPr>
                    </a:p>
                    <a:p>
                      <a:pPr marL="0" marR="0" lvl="0" indent="0" algn="ctr" rtl="0">
                        <a:lnSpc>
                          <a:spcPct val="100000"/>
                        </a:lnSpc>
                        <a:spcBef>
                          <a:spcPts val="0"/>
                        </a:spcBef>
                        <a:spcAft>
                          <a:spcPts val="0"/>
                        </a:spcAft>
                        <a:buClr>
                          <a:srgbClr val="000000"/>
                        </a:buClr>
                        <a:buSzPts val="3600"/>
                        <a:buFont typeface="Arial"/>
                        <a:buNone/>
                      </a:pPr>
                      <a:r>
                        <a:rPr lang="en-US" sz="1600" u="none" strike="noStrike" cap="none">
                          <a:solidFill>
                            <a:schemeClr val="bg1"/>
                          </a:solidFill>
                          <a:latin typeface="Century Gothic"/>
                        </a:rPr>
                        <a:t>STD-001, STD-003, STD-006, STD-010</a:t>
                      </a:r>
                      <a:endParaRPr sz="1600" u="none" strike="noStrike" cap="none">
                        <a:solidFill>
                          <a:schemeClr val="bg1"/>
                        </a:solidFill>
                        <a:latin typeface="Century Gothic"/>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ED7D31"/>
                    </a:solidFill>
                  </a:tcPr>
                </a:tc>
                <a:extLst>
                  <a:ext uri="{0D108BD9-81ED-4DB2-BD59-A6C34878D82A}">
                    <a16:rowId xmlns:a16="http://schemas.microsoft.com/office/drawing/2014/main" val="10001"/>
                  </a:ext>
                </a:extLst>
              </a:tr>
            </a:tbl>
          </a:graphicData>
        </a:graphic>
      </p:graphicFrame>
      <p:pic>
        <p:nvPicPr>
          <p:cNvPr id="162" name="Google Shape;162;p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a:extLst>
            <a:ext uri="{FF2B5EF4-FFF2-40B4-BE49-F238E27FC236}">
              <a16:creationId xmlns:a16="http://schemas.microsoft.com/office/drawing/2014/main" id="{A3AD4027-B283-2DF4-CA0E-D3359A7A9CC6}"/>
            </a:ext>
          </a:extLst>
        </p:cNvPr>
        <p:cNvGrpSpPr/>
        <p:nvPr/>
      </p:nvGrpSpPr>
      <p:grpSpPr>
        <a:xfrm>
          <a:off x="0" y="0"/>
          <a:ext cx="0" cy="0"/>
          <a:chOff x="0" y="0"/>
          <a:chExt cx="0" cy="0"/>
        </a:xfrm>
      </p:grpSpPr>
      <p:sp>
        <p:nvSpPr>
          <p:cNvPr id="167" name="Google Shape;167;p5">
            <a:extLst>
              <a:ext uri="{FF2B5EF4-FFF2-40B4-BE49-F238E27FC236}">
                <a16:creationId xmlns:a16="http://schemas.microsoft.com/office/drawing/2014/main" id="{EDC0ADE9-EA03-FA71-4BE3-C2A19266AD6C}"/>
              </a:ext>
            </a:extLst>
          </p:cNvPr>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10 PRINCIPLES</a:t>
            </a:r>
            <a:endParaRPr/>
          </a:p>
        </p:txBody>
      </p:sp>
      <p:pic>
        <p:nvPicPr>
          <p:cNvPr id="169" name="Google Shape;169;p5" descr="Green Pace logo">
            <a:extLst>
              <a:ext uri="{FF2B5EF4-FFF2-40B4-BE49-F238E27FC236}">
                <a16:creationId xmlns:a16="http://schemas.microsoft.com/office/drawing/2014/main" id="{4E9DB910-24C9-AC9C-0517-D8C54BF121BB}"/>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graphicFrame>
        <p:nvGraphicFramePr>
          <p:cNvPr id="5" name="Table 4">
            <a:extLst>
              <a:ext uri="{FF2B5EF4-FFF2-40B4-BE49-F238E27FC236}">
                <a16:creationId xmlns:a16="http://schemas.microsoft.com/office/drawing/2014/main" id="{47CFA66B-7633-0D7A-DF5A-01CAF640B843}"/>
              </a:ext>
            </a:extLst>
          </p:cNvPr>
          <p:cNvGraphicFramePr>
            <a:graphicFrameLocks noGrp="1"/>
          </p:cNvGraphicFramePr>
          <p:nvPr>
            <p:extLst>
              <p:ext uri="{D42A27DB-BD31-4B8C-83A1-F6EECF244321}">
                <p14:modId xmlns:p14="http://schemas.microsoft.com/office/powerpoint/2010/main" val="2308218853"/>
              </p:ext>
            </p:extLst>
          </p:nvPr>
        </p:nvGraphicFramePr>
        <p:xfrm>
          <a:off x="1113692" y="1941634"/>
          <a:ext cx="9845246" cy="4282758"/>
        </p:xfrm>
        <a:graphic>
          <a:graphicData uri="http://schemas.openxmlformats.org/drawingml/2006/table">
            <a:tbl>
              <a:tblPr firstRow="1" bandRow="1">
                <a:tableStyleId>{802198C4-3087-4945-87E3-76CBB3509B7E}</a:tableStyleId>
              </a:tblPr>
              <a:tblGrid>
                <a:gridCol w="4927355">
                  <a:extLst>
                    <a:ext uri="{9D8B030D-6E8A-4147-A177-3AD203B41FA5}">
                      <a16:colId xmlns:a16="http://schemas.microsoft.com/office/drawing/2014/main" val="1214539137"/>
                    </a:ext>
                  </a:extLst>
                </a:gridCol>
                <a:gridCol w="4917891">
                  <a:extLst>
                    <a:ext uri="{9D8B030D-6E8A-4147-A177-3AD203B41FA5}">
                      <a16:colId xmlns:a16="http://schemas.microsoft.com/office/drawing/2014/main" val="1061663681"/>
                    </a:ext>
                  </a:extLst>
                </a:gridCol>
              </a:tblGrid>
              <a:tr h="713793">
                <a:tc>
                  <a:txBody>
                    <a:bodyPr/>
                    <a:lstStyle/>
                    <a:p>
                      <a:r>
                        <a:rPr lang="en-US">
                          <a:solidFill>
                            <a:schemeClr val="bg1"/>
                          </a:solidFill>
                          <a:latin typeface="Century Gothic"/>
                        </a:rPr>
                        <a:t>Principle</a:t>
                      </a:r>
                    </a:p>
                  </a:txBody>
                  <a:tcPr>
                    <a:solidFill>
                      <a:srgbClr val="ED7D31"/>
                    </a:solidFill>
                  </a:tcPr>
                </a:tc>
                <a:tc>
                  <a:txBody>
                    <a:bodyPr/>
                    <a:lstStyle/>
                    <a:p>
                      <a:r>
                        <a:rPr lang="en-US">
                          <a:solidFill>
                            <a:schemeClr val="bg1"/>
                          </a:solidFill>
                          <a:latin typeface="Century Gothic"/>
                        </a:rPr>
                        <a:t>Associated Coding Standard(s)</a:t>
                      </a:r>
                      <a:endParaRPr lang="en-US" dirty="0" err="1">
                        <a:solidFill>
                          <a:schemeClr val="bg1"/>
                        </a:solidFill>
                        <a:latin typeface="Century Gothic"/>
                      </a:endParaRPr>
                    </a:p>
                  </a:txBody>
                  <a:tcPr>
                    <a:solidFill>
                      <a:srgbClr val="ED7D31"/>
                    </a:solidFill>
                  </a:tcPr>
                </a:tc>
                <a:extLst>
                  <a:ext uri="{0D108BD9-81ED-4DB2-BD59-A6C34878D82A}">
                    <a16:rowId xmlns:a16="http://schemas.microsoft.com/office/drawing/2014/main" val="1824631251"/>
                  </a:ext>
                </a:extLst>
              </a:tr>
              <a:tr h="713793">
                <a:tc>
                  <a:txBody>
                    <a:bodyPr/>
                    <a:lstStyle/>
                    <a:p>
                      <a:pPr lvl="0">
                        <a:buNone/>
                      </a:pPr>
                      <a:r>
                        <a:rPr lang="en-US">
                          <a:solidFill>
                            <a:schemeClr val="bg1"/>
                          </a:solidFill>
                          <a:latin typeface="Century Gothic"/>
                        </a:rPr>
                        <a:t>Validate Input</a:t>
                      </a:r>
                      <a:endParaRPr lang="en-US" dirty="0">
                        <a:solidFill>
                          <a:schemeClr val="bg1"/>
                        </a:solidFill>
                        <a:latin typeface="Century Gothic"/>
                      </a:endParaRPr>
                    </a:p>
                  </a:txBody>
                  <a:tcPr/>
                </a:tc>
                <a:tc>
                  <a:txBody>
                    <a:bodyPr/>
                    <a:lstStyle/>
                    <a:p>
                      <a:pPr lvl="0">
                        <a:buNone/>
                      </a:pPr>
                      <a:r>
                        <a:rPr lang="en-US" sz="1400" b="0" i="0" u="none" strike="noStrike" noProof="0" dirty="0">
                          <a:solidFill>
                            <a:srgbClr val="FFFFFF"/>
                          </a:solidFill>
                          <a:latin typeface="Century Gothic"/>
                        </a:rPr>
                        <a:t>STD-004: SQL Injection, STD-008: </a:t>
                      </a:r>
                      <a:r>
                        <a:rPr lang="en-US" sz="1400" b="0" i="0" u="none" strike="noStrike" noProof="0">
                          <a:solidFill>
                            <a:srgbClr val="FFFFFF"/>
                          </a:solidFill>
                          <a:latin typeface="Century Gothic"/>
                        </a:rPr>
                        <a:t>Input Validation</a:t>
                      </a:r>
                      <a:endParaRPr lang="en-US"/>
                    </a:p>
                  </a:txBody>
                  <a:tcPr/>
                </a:tc>
                <a:extLst>
                  <a:ext uri="{0D108BD9-81ED-4DB2-BD59-A6C34878D82A}">
                    <a16:rowId xmlns:a16="http://schemas.microsoft.com/office/drawing/2014/main" val="4012911961"/>
                  </a:ext>
                </a:extLst>
              </a:tr>
              <a:tr h="713793">
                <a:tc>
                  <a:txBody>
                    <a:bodyPr/>
                    <a:lstStyle/>
                    <a:p>
                      <a:pPr lvl="0">
                        <a:buNone/>
                      </a:pPr>
                      <a:r>
                        <a:rPr lang="en-US" sz="1400" b="0" i="0" u="none" strike="noStrike" baseline="0" noProof="0">
                          <a:solidFill>
                            <a:srgbClr val="FFFFFF"/>
                          </a:solidFill>
                          <a:latin typeface="Century Gothic"/>
                          <a:ea typeface="Calibri"/>
                          <a:cs typeface="Calibri"/>
                        </a:rPr>
                        <a:t>Heed Compiler Warnings</a:t>
                      </a:r>
                    </a:p>
                  </a:txBody>
                  <a:tcPr/>
                </a:tc>
                <a:tc>
                  <a:txBody>
                    <a:bodyPr/>
                    <a:lstStyle/>
                    <a:p>
                      <a:r>
                        <a:rPr lang="en-US">
                          <a:solidFill>
                            <a:schemeClr val="bg1"/>
                          </a:solidFill>
                          <a:latin typeface="Century Gothic"/>
                        </a:rPr>
                        <a:t>STD-001: Data Types, STD-009: Integer Overflow</a:t>
                      </a:r>
                      <a:endParaRPr lang="en-US" dirty="0">
                        <a:solidFill>
                          <a:schemeClr val="bg1"/>
                        </a:solidFill>
                        <a:latin typeface="Century Gothic"/>
                      </a:endParaRPr>
                    </a:p>
                  </a:txBody>
                  <a:tcPr/>
                </a:tc>
                <a:extLst>
                  <a:ext uri="{0D108BD9-81ED-4DB2-BD59-A6C34878D82A}">
                    <a16:rowId xmlns:a16="http://schemas.microsoft.com/office/drawing/2014/main" val="581140211"/>
                  </a:ext>
                </a:extLst>
              </a:tr>
              <a:tr h="713793">
                <a:tc>
                  <a:txBody>
                    <a:bodyPr/>
                    <a:lstStyle/>
                    <a:p>
                      <a:pPr lvl="0">
                        <a:buNone/>
                      </a:pPr>
                      <a:r>
                        <a:rPr lang="en-US" sz="1400" b="0" i="0" u="none" strike="noStrike" baseline="0" noProof="0">
                          <a:solidFill>
                            <a:srgbClr val="FFFFFF"/>
                          </a:solidFill>
                          <a:latin typeface="Century Gothic"/>
                          <a:ea typeface="Calibri"/>
                          <a:cs typeface="Calibri"/>
                        </a:rPr>
                        <a:t>Architect and Design for Security Policies</a:t>
                      </a:r>
                    </a:p>
                  </a:txBody>
                  <a:tcPr/>
                </a:tc>
                <a:tc>
                  <a:txBody>
                    <a:bodyPr/>
                    <a:lstStyle/>
                    <a:p>
                      <a:r>
                        <a:rPr lang="en-US">
                          <a:solidFill>
                            <a:schemeClr val="bg1"/>
                          </a:solidFill>
                          <a:latin typeface="Century Gothic"/>
                        </a:rPr>
                        <a:t>STD-006: Assertions</a:t>
                      </a:r>
                      <a:endParaRPr lang="en-US" dirty="0" err="1">
                        <a:solidFill>
                          <a:schemeClr val="bg1"/>
                        </a:solidFill>
                        <a:latin typeface="Century Gothic"/>
                      </a:endParaRPr>
                    </a:p>
                  </a:txBody>
                  <a:tcPr/>
                </a:tc>
                <a:extLst>
                  <a:ext uri="{0D108BD9-81ED-4DB2-BD59-A6C34878D82A}">
                    <a16:rowId xmlns:a16="http://schemas.microsoft.com/office/drawing/2014/main" val="4092202594"/>
                  </a:ext>
                </a:extLst>
              </a:tr>
              <a:tr h="713793">
                <a:tc>
                  <a:txBody>
                    <a:bodyPr/>
                    <a:lstStyle/>
                    <a:p>
                      <a:pPr lvl="0">
                        <a:buNone/>
                      </a:pPr>
                      <a:r>
                        <a:rPr lang="en-US" sz="1400" b="0" i="0" u="none" strike="noStrike" baseline="0" noProof="0">
                          <a:solidFill>
                            <a:srgbClr val="FFFFFF"/>
                          </a:solidFill>
                          <a:latin typeface="Century Gothic"/>
                          <a:ea typeface="Calibri"/>
                          <a:cs typeface="Calibri"/>
                        </a:rPr>
                        <a:t>Keep It Simple</a:t>
                      </a:r>
                    </a:p>
                  </a:txBody>
                  <a:tcPr/>
                </a:tc>
                <a:tc>
                  <a:txBody>
                    <a:bodyPr/>
                    <a:lstStyle/>
                    <a:p>
                      <a:r>
                        <a:rPr lang="en-US" dirty="0">
                          <a:solidFill>
                            <a:schemeClr val="bg1"/>
                          </a:solidFill>
                          <a:latin typeface="Century Gothic"/>
                        </a:rPr>
                        <a:t>STD-003: String Correctness, STD-001: Data </a:t>
                      </a:r>
                      <a:r>
                        <a:rPr lang="en-US">
                          <a:solidFill>
                            <a:schemeClr val="bg1"/>
                          </a:solidFill>
                          <a:latin typeface="Century Gothic"/>
                        </a:rPr>
                        <a:t>Type</a:t>
                      </a:r>
                      <a:endParaRPr lang="en-US" dirty="0">
                        <a:solidFill>
                          <a:schemeClr val="bg1"/>
                        </a:solidFill>
                        <a:latin typeface="Century Gothic"/>
                      </a:endParaRPr>
                    </a:p>
                  </a:txBody>
                  <a:tcPr/>
                </a:tc>
                <a:extLst>
                  <a:ext uri="{0D108BD9-81ED-4DB2-BD59-A6C34878D82A}">
                    <a16:rowId xmlns:a16="http://schemas.microsoft.com/office/drawing/2014/main" val="2164449035"/>
                  </a:ext>
                </a:extLst>
              </a:tr>
              <a:tr h="713793">
                <a:tc>
                  <a:txBody>
                    <a:bodyPr/>
                    <a:lstStyle/>
                    <a:p>
                      <a:pPr lvl="0">
                        <a:buNone/>
                      </a:pPr>
                      <a:r>
                        <a:rPr lang="en-US" sz="1400" b="0" i="0" u="none" strike="noStrike" baseline="0" noProof="0">
                          <a:solidFill>
                            <a:srgbClr val="FFFFFF"/>
                          </a:solidFill>
                          <a:latin typeface="Century Gothic"/>
                          <a:ea typeface="Calibri"/>
                          <a:cs typeface="Calibri"/>
                        </a:rPr>
                        <a:t>Default Deny</a:t>
                      </a:r>
                    </a:p>
                  </a:txBody>
                  <a:tcPr/>
                </a:tc>
                <a:tc>
                  <a:txBody>
                    <a:bodyPr/>
                    <a:lstStyle/>
                    <a:p>
                      <a:r>
                        <a:rPr lang="en-US">
                          <a:solidFill>
                            <a:schemeClr val="bg1"/>
                          </a:solidFill>
                          <a:latin typeface="Century Gothic"/>
                        </a:rPr>
                        <a:t>STD-007: Exceptions</a:t>
                      </a:r>
                      <a:endParaRPr lang="en-US" dirty="0">
                        <a:solidFill>
                          <a:schemeClr val="bg1"/>
                        </a:solidFill>
                        <a:latin typeface="Century Gothic"/>
                      </a:endParaRPr>
                    </a:p>
                  </a:txBody>
                  <a:tcPr/>
                </a:tc>
                <a:extLst>
                  <a:ext uri="{0D108BD9-81ED-4DB2-BD59-A6C34878D82A}">
                    <a16:rowId xmlns:a16="http://schemas.microsoft.com/office/drawing/2014/main" val="3379857592"/>
                  </a:ext>
                </a:extLst>
              </a:tr>
            </a:tbl>
          </a:graphicData>
        </a:graphic>
      </p:graphicFrame>
    </p:spTree>
    <p:custDataLst>
      <p:tags r:id="rId1"/>
    </p:custDataLst>
    <p:extLst>
      <p:ext uri="{BB962C8B-B14F-4D97-AF65-F5344CB8AC3E}">
        <p14:creationId xmlns:p14="http://schemas.microsoft.com/office/powerpoint/2010/main" val="42752316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6">
          <a:extLst>
            <a:ext uri="{FF2B5EF4-FFF2-40B4-BE49-F238E27FC236}">
              <a16:creationId xmlns:a16="http://schemas.microsoft.com/office/drawing/2014/main" id="{B2ED2651-9FE5-C202-D34B-9441171FDFB3}"/>
            </a:ext>
          </a:extLst>
        </p:cNvPr>
        <p:cNvGrpSpPr/>
        <p:nvPr/>
      </p:nvGrpSpPr>
      <p:grpSpPr>
        <a:xfrm>
          <a:off x="0" y="0"/>
          <a:ext cx="0" cy="0"/>
          <a:chOff x="0" y="0"/>
          <a:chExt cx="0" cy="0"/>
        </a:xfrm>
      </p:grpSpPr>
      <p:sp>
        <p:nvSpPr>
          <p:cNvPr id="167" name="Google Shape;167;p5">
            <a:extLst>
              <a:ext uri="{FF2B5EF4-FFF2-40B4-BE49-F238E27FC236}">
                <a16:creationId xmlns:a16="http://schemas.microsoft.com/office/drawing/2014/main" id="{8288F240-5297-D9B6-38E0-A6A1946762F9}"/>
              </a:ext>
            </a:extLst>
          </p:cNvPr>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a:buSzPts val="4000"/>
            </a:pPr>
            <a:r>
              <a:rPr lang="en-US" dirty="0"/>
              <a:t>10 PRINCIPLES (</a:t>
            </a:r>
            <a:r>
              <a:rPr lang="en-US" dirty="0" err="1"/>
              <a:t>Cont</a:t>
            </a:r>
            <a:r>
              <a:rPr lang="en-US" dirty="0"/>
              <a:t>)</a:t>
            </a:r>
            <a:endParaRPr dirty="0"/>
          </a:p>
        </p:txBody>
      </p:sp>
      <p:pic>
        <p:nvPicPr>
          <p:cNvPr id="169" name="Google Shape;169;p5" descr="Green Pace logo">
            <a:extLst>
              <a:ext uri="{FF2B5EF4-FFF2-40B4-BE49-F238E27FC236}">
                <a16:creationId xmlns:a16="http://schemas.microsoft.com/office/drawing/2014/main" id="{138CA1C5-0AA3-DE1E-A911-98FDD399C830}"/>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graphicFrame>
        <p:nvGraphicFramePr>
          <p:cNvPr id="5" name="Table 4">
            <a:extLst>
              <a:ext uri="{FF2B5EF4-FFF2-40B4-BE49-F238E27FC236}">
                <a16:creationId xmlns:a16="http://schemas.microsoft.com/office/drawing/2014/main" id="{C90A0FD6-98DA-12AC-B379-17F80192A189}"/>
              </a:ext>
            </a:extLst>
          </p:cNvPr>
          <p:cNvGraphicFramePr>
            <a:graphicFrameLocks noGrp="1"/>
          </p:cNvGraphicFramePr>
          <p:nvPr>
            <p:extLst>
              <p:ext uri="{D42A27DB-BD31-4B8C-83A1-F6EECF244321}">
                <p14:modId xmlns:p14="http://schemas.microsoft.com/office/powerpoint/2010/main" val="1839079710"/>
              </p:ext>
            </p:extLst>
          </p:nvPr>
        </p:nvGraphicFramePr>
        <p:xfrm>
          <a:off x="1113692" y="1941634"/>
          <a:ext cx="9845246" cy="4282758"/>
        </p:xfrm>
        <a:graphic>
          <a:graphicData uri="http://schemas.openxmlformats.org/drawingml/2006/table">
            <a:tbl>
              <a:tblPr firstRow="1" bandRow="1">
                <a:tableStyleId>{802198C4-3087-4945-87E3-76CBB3509B7E}</a:tableStyleId>
              </a:tblPr>
              <a:tblGrid>
                <a:gridCol w="4927355">
                  <a:extLst>
                    <a:ext uri="{9D8B030D-6E8A-4147-A177-3AD203B41FA5}">
                      <a16:colId xmlns:a16="http://schemas.microsoft.com/office/drawing/2014/main" val="1214539137"/>
                    </a:ext>
                  </a:extLst>
                </a:gridCol>
                <a:gridCol w="4917891">
                  <a:extLst>
                    <a:ext uri="{9D8B030D-6E8A-4147-A177-3AD203B41FA5}">
                      <a16:colId xmlns:a16="http://schemas.microsoft.com/office/drawing/2014/main" val="1061663681"/>
                    </a:ext>
                  </a:extLst>
                </a:gridCol>
              </a:tblGrid>
              <a:tr h="713793">
                <a:tc>
                  <a:txBody>
                    <a:bodyPr/>
                    <a:lstStyle/>
                    <a:p>
                      <a:r>
                        <a:rPr lang="en-US">
                          <a:solidFill>
                            <a:schemeClr val="bg1"/>
                          </a:solidFill>
                          <a:latin typeface="Century Gothic"/>
                        </a:rPr>
                        <a:t>Principle</a:t>
                      </a:r>
                    </a:p>
                  </a:txBody>
                  <a:tcPr>
                    <a:solidFill>
                      <a:srgbClr val="ED7D31"/>
                    </a:solidFill>
                  </a:tcPr>
                </a:tc>
                <a:tc>
                  <a:txBody>
                    <a:bodyPr/>
                    <a:lstStyle/>
                    <a:p>
                      <a:r>
                        <a:rPr lang="en-US">
                          <a:solidFill>
                            <a:schemeClr val="bg1"/>
                          </a:solidFill>
                          <a:latin typeface="Century Gothic"/>
                        </a:rPr>
                        <a:t>Associated Coding Standard(s)</a:t>
                      </a:r>
                      <a:endParaRPr lang="en-US" dirty="0" err="1">
                        <a:solidFill>
                          <a:schemeClr val="bg1"/>
                        </a:solidFill>
                        <a:latin typeface="Century Gothic"/>
                      </a:endParaRPr>
                    </a:p>
                  </a:txBody>
                  <a:tcPr>
                    <a:solidFill>
                      <a:srgbClr val="ED7D31"/>
                    </a:solidFill>
                  </a:tcPr>
                </a:tc>
                <a:extLst>
                  <a:ext uri="{0D108BD9-81ED-4DB2-BD59-A6C34878D82A}">
                    <a16:rowId xmlns:a16="http://schemas.microsoft.com/office/drawing/2014/main" val="1824631251"/>
                  </a:ext>
                </a:extLst>
              </a:tr>
              <a:tr h="713793">
                <a:tc>
                  <a:txBody>
                    <a:bodyPr/>
                    <a:lstStyle/>
                    <a:p>
                      <a:pPr lvl="0">
                        <a:buNone/>
                      </a:pPr>
                      <a:r>
                        <a:rPr lang="en-US" sz="1400" b="0" i="0" u="none" strike="noStrike" baseline="0" noProof="0">
                          <a:solidFill>
                            <a:srgbClr val="FFFFFF"/>
                          </a:solidFill>
                          <a:latin typeface="Century Gothic"/>
                        </a:rPr>
                        <a:t>Adhere to the Principle of Least Privilege</a:t>
                      </a:r>
                    </a:p>
                  </a:txBody>
                  <a:tcPr/>
                </a:tc>
                <a:tc>
                  <a:txBody>
                    <a:bodyPr/>
                    <a:lstStyle/>
                    <a:p>
                      <a:r>
                        <a:rPr lang="en-US">
                          <a:solidFill>
                            <a:schemeClr val="bg1"/>
                          </a:solidFill>
                          <a:latin typeface="Century Gothic"/>
                        </a:rPr>
                        <a:t>STD-008: Memory Protection</a:t>
                      </a:r>
                      <a:endParaRPr lang="en-US" dirty="0">
                        <a:solidFill>
                          <a:schemeClr val="bg1"/>
                        </a:solidFill>
                        <a:latin typeface="Century Gothic"/>
                      </a:endParaRPr>
                    </a:p>
                  </a:txBody>
                  <a:tcPr/>
                </a:tc>
                <a:extLst>
                  <a:ext uri="{0D108BD9-81ED-4DB2-BD59-A6C34878D82A}">
                    <a16:rowId xmlns:a16="http://schemas.microsoft.com/office/drawing/2014/main" val="4012911961"/>
                  </a:ext>
                </a:extLst>
              </a:tr>
              <a:tr h="713793">
                <a:tc>
                  <a:txBody>
                    <a:bodyPr/>
                    <a:lstStyle/>
                    <a:p>
                      <a:pPr lvl="0">
                        <a:buNone/>
                      </a:pPr>
                      <a:r>
                        <a:rPr lang="en-US" sz="1400" b="0" i="0" u="none" strike="noStrike" baseline="0" noProof="0">
                          <a:solidFill>
                            <a:srgbClr val="FFFFFF"/>
                          </a:solidFill>
                          <a:latin typeface="Century Gothic"/>
                          <a:ea typeface="Calibri"/>
                          <a:cs typeface="Calibri"/>
                        </a:rPr>
                        <a:t>Sanitize Data Sent to Other Systems</a:t>
                      </a:r>
                    </a:p>
                  </a:txBody>
                  <a:tcPr/>
                </a:tc>
                <a:tc>
                  <a:txBody>
                    <a:bodyPr/>
                    <a:lstStyle/>
                    <a:p>
                      <a:r>
                        <a:rPr lang="en-US" dirty="0">
                          <a:solidFill>
                            <a:schemeClr val="bg1"/>
                          </a:solidFill>
                          <a:latin typeface="Century Gothic"/>
                        </a:rPr>
                        <a:t>STD-002: Data Values, STD-003: String Correctness, STD-</a:t>
                      </a:r>
                      <a:r>
                        <a:rPr lang="en-US">
                          <a:solidFill>
                            <a:schemeClr val="bg1"/>
                          </a:solidFill>
                          <a:latin typeface="Century Gothic"/>
                        </a:rPr>
                        <a:t>009: Integer Overflow</a:t>
                      </a:r>
                      <a:endParaRPr lang="en-US" dirty="0">
                        <a:solidFill>
                          <a:schemeClr val="bg1"/>
                        </a:solidFill>
                        <a:latin typeface="Century Gothic"/>
                      </a:endParaRPr>
                    </a:p>
                  </a:txBody>
                  <a:tcPr/>
                </a:tc>
                <a:extLst>
                  <a:ext uri="{0D108BD9-81ED-4DB2-BD59-A6C34878D82A}">
                    <a16:rowId xmlns:a16="http://schemas.microsoft.com/office/drawing/2014/main" val="581140211"/>
                  </a:ext>
                </a:extLst>
              </a:tr>
              <a:tr h="713793">
                <a:tc>
                  <a:txBody>
                    <a:bodyPr/>
                    <a:lstStyle/>
                    <a:p>
                      <a:pPr lvl="0">
                        <a:buNone/>
                      </a:pPr>
                      <a:r>
                        <a:rPr lang="en-US" sz="1400" b="0" i="0" u="none" strike="noStrike" baseline="0" noProof="0">
                          <a:solidFill>
                            <a:srgbClr val="FFFFFF"/>
                          </a:solidFill>
                          <a:latin typeface="Century Gothic"/>
                          <a:ea typeface="Calibri"/>
                          <a:cs typeface="Calibri"/>
                        </a:rPr>
                        <a:t>Practice Defense in Depth </a:t>
                      </a:r>
                    </a:p>
                  </a:txBody>
                  <a:tcPr/>
                </a:tc>
                <a:tc>
                  <a:txBody>
                    <a:bodyPr/>
                    <a:lstStyle/>
                    <a:p>
                      <a:r>
                        <a:rPr lang="en-US">
                          <a:solidFill>
                            <a:schemeClr val="bg1"/>
                          </a:solidFill>
                          <a:latin typeface="Century Gothic"/>
                        </a:rPr>
                        <a:t>STD-003: String Correctness, STD-004: SQL Injection, STD-008: Memory Protection</a:t>
                      </a:r>
                      <a:endParaRPr lang="en-US" dirty="0" err="1">
                        <a:solidFill>
                          <a:schemeClr val="bg1"/>
                        </a:solidFill>
                        <a:latin typeface="Century Gothic"/>
                      </a:endParaRPr>
                    </a:p>
                  </a:txBody>
                  <a:tcPr/>
                </a:tc>
                <a:extLst>
                  <a:ext uri="{0D108BD9-81ED-4DB2-BD59-A6C34878D82A}">
                    <a16:rowId xmlns:a16="http://schemas.microsoft.com/office/drawing/2014/main" val="4092202594"/>
                  </a:ext>
                </a:extLst>
              </a:tr>
              <a:tr h="713793">
                <a:tc>
                  <a:txBody>
                    <a:bodyPr/>
                    <a:lstStyle/>
                    <a:p>
                      <a:pPr lvl="0">
                        <a:buNone/>
                      </a:pPr>
                      <a:r>
                        <a:rPr lang="en-US" sz="1400" b="0" i="0" u="none" strike="noStrike" baseline="0" noProof="0">
                          <a:solidFill>
                            <a:srgbClr val="FFFFFF"/>
                          </a:solidFill>
                          <a:latin typeface="Century Gothic"/>
                          <a:ea typeface="Calibri"/>
                          <a:cs typeface="Calibri"/>
                        </a:rPr>
                        <a:t>Use Effective Quality Assurance Techniques</a:t>
                      </a:r>
                    </a:p>
                  </a:txBody>
                  <a:tcPr/>
                </a:tc>
                <a:tc>
                  <a:txBody>
                    <a:bodyPr/>
                    <a:lstStyle/>
                    <a:p>
                      <a:r>
                        <a:rPr lang="en-US">
                          <a:solidFill>
                            <a:schemeClr val="bg1"/>
                          </a:solidFill>
                          <a:latin typeface="Century Gothic"/>
                        </a:rPr>
                        <a:t>STD-006: Assertions</a:t>
                      </a:r>
                      <a:endParaRPr lang="en-US" dirty="0">
                        <a:solidFill>
                          <a:schemeClr val="bg1"/>
                        </a:solidFill>
                        <a:latin typeface="Century Gothic"/>
                      </a:endParaRPr>
                    </a:p>
                  </a:txBody>
                  <a:tcPr/>
                </a:tc>
                <a:extLst>
                  <a:ext uri="{0D108BD9-81ED-4DB2-BD59-A6C34878D82A}">
                    <a16:rowId xmlns:a16="http://schemas.microsoft.com/office/drawing/2014/main" val="2164449035"/>
                  </a:ext>
                </a:extLst>
              </a:tr>
              <a:tr h="713793">
                <a:tc>
                  <a:txBody>
                    <a:bodyPr/>
                    <a:lstStyle/>
                    <a:p>
                      <a:pPr lvl="0">
                        <a:buNone/>
                      </a:pPr>
                      <a:r>
                        <a:rPr lang="en-US" sz="1400" b="0" i="0" u="none" strike="noStrike" baseline="0" noProof="0">
                          <a:solidFill>
                            <a:srgbClr val="FFFFFF"/>
                          </a:solidFill>
                          <a:latin typeface="Century Gothic"/>
                          <a:ea typeface="Calibri"/>
                          <a:cs typeface="Calibri"/>
                        </a:rPr>
                        <a:t>Adopt a Secure Coding Standard</a:t>
                      </a:r>
                    </a:p>
                  </a:txBody>
                  <a:tcPr/>
                </a:tc>
                <a:tc>
                  <a:txBody>
                    <a:bodyPr/>
                    <a:lstStyle/>
                    <a:p>
                      <a:r>
                        <a:rPr lang="en-US" dirty="0">
                          <a:solidFill>
                            <a:schemeClr val="bg1"/>
                          </a:solidFill>
                          <a:latin typeface="Century Gothic"/>
                        </a:rPr>
                        <a:t>STD-005: Memory</a:t>
                      </a:r>
                      <a:r>
                        <a:rPr lang="en-US">
                          <a:solidFill>
                            <a:schemeClr val="bg1"/>
                          </a:solidFill>
                          <a:latin typeface="Century Gothic"/>
                        </a:rPr>
                        <a:t> Protection, STD-010: Resource Management</a:t>
                      </a:r>
                      <a:endParaRPr lang="en-US" dirty="0">
                        <a:solidFill>
                          <a:schemeClr val="bg1"/>
                        </a:solidFill>
                        <a:latin typeface="Century Gothic"/>
                      </a:endParaRPr>
                    </a:p>
                  </a:txBody>
                  <a:tcPr/>
                </a:tc>
                <a:extLst>
                  <a:ext uri="{0D108BD9-81ED-4DB2-BD59-A6C34878D82A}">
                    <a16:rowId xmlns:a16="http://schemas.microsoft.com/office/drawing/2014/main" val="3379857592"/>
                  </a:ext>
                </a:extLst>
              </a:tr>
            </a:tbl>
          </a:graphicData>
        </a:graphic>
      </p:graphicFrame>
    </p:spTree>
    <p:custDataLst>
      <p:tags r:id="rId1"/>
    </p:custDataLst>
    <p:extLst>
      <p:ext uri="{BB962C8B-B14F-4D97-AF65-F5344CB8AC3E}">
        <p14:creationId xmlns:p14="http://schemas.microsoft.com/office/powerpoint/2010/main" val="13298700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6"/>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CODING STANDARDS</a:t>
            </a:r>
            <a:endParaRPr/>
          </a:p>
        </p:txBody>
      </p:sp>
      <p:pic>
        <p:nvPicPr>
          <p:cNvPr id="176" name="Google Shape;176;p6"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graphicFrame>
        <p:nvGraphicFramePr>
          <p:cNvPr id="3" name="Table 2">
            <a:extLst>
              <a:ext uri="{FF2B5EF4-FFF2-40B4-BE49-F238E27FC236}">
                <a16:creationId xmlns:a16="http://schemas.microsoft.com/office/drawing/2014/main" id="{76C12EE7-21A3-1550-9EF0-87EE4A0AD202}"/>
              </a:ext>
            </a:extLst>
          </p:cNvPr>
          <p:cNvGraphicFramePr>
            <a:graphicFrameLocks noGrp="1"/>
          </p:cNvGraphicFramePr>
          <p:nvPr>
            <p:extLst>
              <p:ext uri="{D42A27DB-BD31-4B8C-83A1-F6EECF244321}">
                <p14:modId xmlns:p14="http://schemas.microsoft.com/office/powerpoint/2010/main" val="2960166743"/>
              </p:ext>
            </p:extLst>
          </p:nvPr>
        </p:nvGraphicFramePr>
        <p:xfrm>
          <a:off x="1011115" y="1677865"/>
          <a:ext cx="9342057" cy="5075219"/>
        </p:xfrm>
        <a:graphic>
          <a:graphicData uri="http://schemas.openxmlformats.org/drawingml/2006/table">
            <a:tbl>
              <a:tblPr firstRow="1" bandRow="1">
                <a:tableStyleId>{802198C4-3087-4945-87E3-76CBB3509B7E}</a:tableStyleId>
              </a:tblPr>
              <a:tblGrid>
                <a:gridCol w="2656009">
                  <a:extLst>
                    <a:ext uri="{9D8B030D-6E8A-4147-A177-3AD203B41FA5}">
                      <a16:colId xmlns:a16="http://schemas.microsoft.com/office/drawing/2014/main" val="4098961627"/>
                    </a:ext>
                  </a:extLst>
                </a:gridCol>
                <a:gridCol w="6686048">
                  <a:extLst>
                    <a:ext uri="{9D8B030D-6E8A-4147-A177-3AD203B41FA5}">
                      <a16:colId xmlns:a16="http://schemas.microsoft.com/office/drawing/2014/main" val="2538806069"/>
                    </a:ext>
                  </a:extLst>
                </a:gridCol>
              </a:tblGrid>
              <a:tr h="459776">
                <a:tc>
                  <a:txBody>
                    <a:bodyPr/>
                    <a:lstStyle/>
                    <a:p>
                      <a:pPr algn="ctr" rtl="0" fontAlgn="base">
                        <a:lnSpc>
                          <a:spcPts val="1538"/>
                        </a:lnSpc>
                        <a:buNone/>
                      </a:pPr>
                      <a:r>
                        <a:rPr lang="en-US" sz="1100" b="1" i="0">
                          <a:solidFill>
                            <a:schemeClr val="bg1"/>
                          </a:solidFill>
                          <a:effectLst/>
                          <a:latin typeface="Century Gothic"/>
                        </a:rPr>
                        <a:t>Rule </a:t>
                      </a:r>
                    </a:p>
                  </a:txBody>
                  <a:tcPr marL="66675" marR="66675">
                    <a:lnL w="9525" cap="flat" cmpd="sng" algn="ctr">
                      <a:solidFill>
                        <a:srgbClr val="C9C9C9"/>
                      </a:solidFill>
                      <a:prstDash val="solid"/>
                      <a:round/>
                      <a:headEnd type="none" w="med" len="med"/>
                      <a:tailEnd type="none" w="med" len="med"/>
                    </a:lnL>
                    <a:lnR w="9525" cap="flat" cmpd="sng" algn="ctr">
                      <a:solidFill>
                        <a:srgbClr val="C9C9C9"/>
                      </a:solidFill>
                      <a:prstDash val="solid"/>
                      <a:round/>
                      <a:headEnd type="none" w="med" len="med"/>
                      <a:tailEnd type="none" w="med" len="med"/>
                    </a:lnR>
                    <a:lnT w="9525" cap="flat" cmpd="sng" algn="ctr">
                      <a:solidFill>
                        <a:srgbClr val="C9C9C9"/>
                      </a:solidFill>
                      <a:prstDash val="solid"/>
                      <a:round/>
                      <a:headEnd type="none" w="med" len="med"/>
                      <a:tailEnd type="none" w="med" len="med"/>
                    </a:lnT>
                    <a:lnB w="9525" cap="flat" cmpd="sng" algn="ctr">
                      <a:solidFill>
                        <a:srgbClr val="C9C9C9"/>
                      </a:solidFill>
                      <a:prstDash val="solid"/>
                      <a:round/>
                      <a:headEnd type="none" w="med" len="med"/>
                      <a:tailEnd type="none" w="med" len="med"/>
                    </a:lnB>
                    <a:solidFill>
                      <a:schemeClr val="accent2"/>
                    </a:solidFill>
                  </a:tcPr>
                </a:tc>
                <a:tc>
                  <a:txBody>
                    <a:bodyPr/>
                    <a:lstStyle/>
                    <a:p>
                      <a:pPr lvl="0" algn="ctr">
                        <a:lnSpc>
                          <a:spcPts val="1538"/>
                        </a:lnSpc>
                        <a:buNone/>
                      </a:pPr>
                      <a:r>
                        <a:rPr lang="en-US" sz="1100" b="1" i="0">
                          <a:solidFill>
                            <a:schemeClr val="bg1"/>
                          </a:solidFill>
                          <a:effectLst/>
                          <a:latin typeface="Century Gothic"/>
                        </a:rPr>
                        <a:t>Description</a:t>
                      </a:r>
                    </a:p>
                  </a:txBody>
                  <a:tcPr marL="66675" marR="66675">
                    <a:lnL w="9525" cap="flat" cmpd="sng" algn="ctr">
                      <a:solidFill>
                        <a:srgbClr val="C9C9C9"/>
                      </a:solidFill>
                      <a:prstDash val="solid"/>
                      <a:round/>
                      <a:headEnd type="none" w="med" len="med"/>
                      <a:tailEnd type="none" w="med" len="med"/>
                    </a:lnL>
                    <a:lnR w="9525" cap="flat" cmpd="sng" algn="ctr">
                      <a:solidFill>
                        <a:srgbClr val="C9C9C9"/>
                      </a:solidFill>
                      <a:prstDash val="solid"/>
                      <a:round/>
                      <a:headEnd type="none" w="med" len="med"/>
                      <a:tailEnd type="none" w="med" len="med"/>
                    </a:lnR>
                    <a:lnT w="9525" cap="flat" cmpd="sng" algn="ctr">
                      <a:solidFill>
                        <a:srgbClr val="C9C9C9"/>
                      </a:solidFill>
                      <a:prstDash val="solid"/>
                      <a:round/>
                      <a:headEnd type="none" w="med" len="med"/>
                      <a:tailEnd type="none" w="med" len="med"/>
                    </a:lnT>
                    <a:lnB w="9525" cap="flat" cmpd="sng" algn="ctr">
                      <a:solidFill>
                        <a:srgbClr val="C9C9C9"/>
                      </a:solidFill>
                      <a:prstDash val="solid"/>
                      <a:round/>
                      <a:headEnd type="none" w="med" len="med"/>
                      <a:tailEnd type="none" w="med" len="med"/>
                    </a:lnB>
                    <a:solidFill>
                      <a:schemeClr val="accent2"/>
                    </a:solidFill>
                  </a:tcPr>
                </a:tc>
                <a:extLst>
                  <a:ext uri="{0D108BD9-81ED-4DB2-BD59-A6C34878D82A}">
                    <a16:rowId xmlns:a16="http://schemas.microsoft.com/office/drawing/2014/main" val="2667140896"/>
                  </a:ext>
                </a:extLst>
              </a:tr>
              <a:tr h="335991">
                <a:tc>
                  <a:txBody>
                    <a:bodyPr/>
                    <a:lstStyle/>
                    <a:p>
                      <a:pPr algn="l" rtl="0" fontAlgn="base">
                        <a:lnSpc>
                          <a:spcPts val="1538"/>
                        </a:lnSpc>
                        <a:buNone/>
                      </a:pPr>
                      <a:r>
                        <a:rPr lang="en-US" sz="1100" b="0" i="0">
                          <a:solidFill>
                            <a:schemeClr val="bg1"/>
                          </a:solidFill>
                          <a:effectLst/>
                          <a:latin typeface="Century Gothic"/>
                        </a:rPr>
                        <a:t>Data Type (STD-001)</a:t>
                      </a:r>
                    </a:p>
                  </a:txBody>
                  <a:tcPr marL="66675" marR="66675">
                    <a:lnL w="9525" cap="flat" cmpd="sng" algn="ctr">
                      <a:solidFill>
                        <a:srgbClr val="C9C9C9"/>
                      </a:solidFill>
                      <a:prstDash val="solid"/>
                      <a:round/>
                      <a:headEnd type="none" w="med" len="med"/>
                      <a:tailEnd type="none" w="med" len="med"/>
                    </a:lnL>
                    <a:lnR w="9525" cap="flat" cmpd="sng" algn="ctr">
                      <a:solidFill>
                        <a:srgbClr val="C9C9C9"/>
                      </a:solidFill>
                      <a:prstDash val="solid"/>
                      <a:round/>
                      <a:headEnd type="none" w="med" len="med"/>
                      <a:tailEnd type="none" w="med" len="med"/>
                    </a:lnR>
                    <a:lnT w="9525" cap="flat" cmpd="sng" algn="ctr">
                      <a:solidFill>
                        <a:srgbClr val="C9C9C9"/>
                      </a:solidFill>
                      <a:prstDash val="solid"/>
                      <a:round/>
                      <a:headEnd type="none" w="med" len="med"/>
                      <a:tailEnd type="none" w="med" len="med"/>
                    </a:lnT>
                    <a:lnB w="9525" cap="flat" cmpd="sng" algn="ctr">
                      <a:solidFill>
                        <a:srgbClr val="A5A5A5"/>
                      </a:solidFill>
                      <a:prstDash val="solid"/>
                      <a:round/>
                      <a:headEnd type="none" w="med" len="med"/>
                      <a:tailEnd type="none" w="med" len="med"/>
                    </a:lnB>
                    <a:solidFill>
                      <a:schemeClr val="accent2"/>
                    </a:solidFill>
                  </a:tcPr>
                </a:tc>
                <a:tc>
                  <a:txBody>
                    <a:bodyPr/>
                    <a:lstStyle/>
                    <a:p>
                      <a:pPr lvl="0" algn="l">
                        <a:lnSpc>
                          <a:spcPts val="1538"/>
                        </a:lnSpc>
                        <a:buNone/>
                      </a:pPr>
                      <a:r>
                        <a:rPr lang="en-US" sz="1100" b="0" i="0" u="none" strike="noStrike" baseline="0" noProof="0">
                          <a:solidFill>
                            <a:srgbClr val="FFFFFF"/>
                          </a:solidFill>
                          <a:effectLst/>
                          <a:latin typeface="Century Gothic"/>
                          <a:ea typeface="Calibri"/>
                          <a:cs typeface="Calibri"/>
                        </a:rPr>
                        <a:t>Selecting the correct data type prevents data truncation, overflow, and unintended behavior. </a:t>
                      </a:r>
                    </a:p>
                  </a:txBody>
                  <a:tcPr marL="66675" marR="66675">
                    <a:lnL w="9525" cap="flat" cmpd="sng" algn="ctr">
                      <a:solidFill>
                        <a:srgbClr val="C9C9C9"/>
                      </a:solidFill>
                      <a:prstDash val="solid"/>
                      <a:round/>
                      <a:headEnd type="none" w="med" len="med"/>
                      <a:tailEnd type="none" w="med" len="med"/>
                    </a:lnL>
                    <a:lnR w="9525" cap="flat" cmpd="sng" algn="ctr">
                      <a:solidFill>
                        <a:srgbClr val="C9C9C9"/>
                      </a:solidFill>
                      <a:prstDash val="solid"/>
                      <a:round/>
                      <a:headEnd type="none" w="med" len="med"/>
                      <a:tailEnd type="none" w="med" len="med"/>
                    </a:lnR>
                    <a:lnT w="9525" cap="flat" cmpd="sng" algn="ctr">
                      <a:solidFill>
                        <a:srgbClr val="C9C9C9"/>
                      </a:solidFill>
                      <a:prstDash val="solid"/>
                      <a:round/>
                      <a:headEnd type="none" w="med" len="med"/>
                      <a:tailEnd type="none" w="med" len="med"/>
                    </a:lnT>
                    <a:lnB w="9525" cap="flat" cmpd="sng" algn="ctr">
                      <a:solidFill>
                        <a:srgbClr val="C9C9C9"/>
                      </a:solidFill>
                      <a:prstDash val="solid"/>
                      <a:round/>
                      <a:headEnd type="none" w="med" len="med"/>
                      <a:tailEnd type="none" w="med" len="med"/>
                    </a:lnB>
                  </a:tcPr>
                </a:tc>
                <a:extLst>
                  <a:ext uri="{0D108BD9-81ED-4DB2-BD59-A6C34878D82A}">
                    <a16:rowId xmlns:a16="http://schemas.microsoft.com/office/drawing/2014/main" val="3691528015"/>
                  </a:ext>
                </a:extLst>
              </a:tr>
              <a:tr h="459776">
                <a:tc>
                  <a:txBody>
                    <a:bodyPr/>
                    <a:lstStyle/>
                    <a:p>
                      <a:pPr algn="l" rtl="0" fontAlgn="base">
                        <a:lnSpc>
                          <a:spcPts val="1538"/>
                        </a:lnSpc>
                        <a:buNone/>
                      </a:pPr>
                      <a:r>
                        <a:rPr lang="en-US" sz="1100" b="0" i="0">
                          <a:solidFill>
                            <a:schemeClr val="bg1"/>
                          </a:solidFill>
                          <a:effectLst/>
                          <a:latin typeface="Century Gothic"/>
                        </a:rPr>
                        <a:t>Data Value </a:t>
                      </a:r>
                      <a:r>
                        <a:rPr lang="en-US" sz="1100" b="0" i="0" u="none" strike="noStrike" noProof="0">
                          <a:solidFill>
                            <a:schemeClr val="bg1"/>
                          </a:solidFill>
                          <a:effectLst/>
                          <a:latin typeface="Century Gothic"/>
                        </a:rPr>
                        <a:t>(STD-002)</a:t>
                      </a:r>
                      <a:endParaRPr lang="en-US" sz="1100" b="0" i="0">
                        <a:solidFill>
                          <a:schemeClr val="bg1"/>
                        </a:solidFill>
                        <a:effectLst/>
                        <a:latin typeface="Century Gothic"/>
                      </a:endParaRPr>
                    </a:p>
                  </a:txBody>
                  <a:tcPr marL="66675" marR="66675">
                    <a:lnL w="9525" cap="flat" cmpd="sng" algn="ctr">
                      <a:solidFill>
                        <a:srgbClr val="C9C9C9"/>
                      </a:solidFill>
                      <a:prstDash val="solid"/>
                      <a:round/>
                      <a:headEnd type="none" w="med" len="med"/>
                      <a:tailEnd type="none" w="med" len="med"/>
                    </a:lnL>
                    <a:lnR w="9525" cap="flat" cmpd="sng" algn="ctr">
                      <a:solidFill>
                        <a:srgbClr val="C9C9C9"/>
                      </a:solidFill>
                      <a:prstDash val="solid"/>
                      <a:round/>
                      <a:headEnd type="none" w="med" len="med"/>
                      <a:tailEnd type="none" w="med" len="med"/>
                    </a:lnR>
                    <a:lnT w="9525" cap="flat" cmpd="sng" algn="ctr">
                      <a:solidFill>
                        <a:srgbClr val="A5A5A5"/>
                      </a:solidFill>
                      <a:prstDash val="solid"/>
                      <a:round/>
                      <a:headEnd type="none" w="med" len="med"/>
                      <a:tailEnd type="none" w="med" len="med"/>
                    </a:lnT>
                    <a:lnB w="9525" cap="flat" cmpd="sng" algn="ctr">
                      <a:solidFill>
                        <a:srgbClr val="C9C9C9"/>
                      </a:solidFill>
                      <a:prstDash val="solid"/>
                      <a:round/>
                      <a:headEnd type="none" w="med" len="med"/>
                      <a:tailEnd type="none" w="med" len="med"/>
                    </a:lnB>
                    <a:solidFill>
                      <a:schemeClr val="accent2"/>
                    </a:solidFill>
                  </a:tcPr>
                </a:tc>
                <a:tc>
                  <a:txBody>
                    <a:bodyPr/>
                    <a:lstStyle/>
                    <a:p>
                      <a:pPr lvl="0" algn="l">
                        <a:lnSpc>
                          <a:spcPts val="1538"/>
                        </a:lnSpc>
                        <a:buNone/>
                      </a:pPr>
                      <a:r>
                        <a:rPr lang="en-US" sz="1100" b="0" i="0" u="none" strike="noStrike" baseline="0" noProof="0" dirty="0">
                          <a:solidFill>
                            <a:srgbClr val="FFFFFF"/>
                          </a:solidFill>
                          <a:effectLst/>
                          <a:latin typeface="Century Gothic"/>
                          <a:ea typeface="Calibri"/>
                          <a:cs typeface="Calibri"/>
                        </a:rPr>
                        <a:t>Proper data value validation ensures that values fall within acceptable ranges for the </a:t>
                      </a:r>
                      <a:r>
                        <a:rPr lang="en-US" sz="1100" b="0" i="0" u="none" strike="noStrike" baseline="0" noProof="0">
                          <a:solidFill>
                            <a:srgbClr val="FFFFFF"/>
                          </a:solidFill>
                          <a:effectLst/>
                          <a:latin typeface="Century Gothic"/>
                          <a:ea typeface="Calibri"/>
                          <a:cs typeface="Calibri"/>
                        </a:rPr>
                        <a:t>application.</a:t>
                      </a:r>
                      <a:endParaRPr lang="en-US"/>
                    </a:p>
                  </a:txBody>
                  <a:tcPr marL="66675" marR="66675">
                    <a:lnL w="9525" cap="flat" cmpd="sng" algn="ctr">
                      <a:solidFill>
                        <a:srgbClr val="C9C9C9"/>
                      </a:solidFill>
                      <a:prstDash val="solid"/>
                      <a:round/>
                      <a:headEnd type="none" w="med" len="med"/>
                      <a:tailEnd type="none" w="med" len="med"/>
                    </a:lnL>
                    <a:lnR w="9525" cap="flat" cmpd="sng" algn="ctr">
                      <a:solidFill>
                        <a:srgbClr val="C9C9C9"/>
                      </a:solidFill>
                      <a:prstDash val="solid"/>
                      <a:round/>
                      <a:headEnd type="none" w="med" len="med"/>
                      <a:tailEnd type="none" w="med" len="med"/>
                    </a:lnR>
                    <a:lnT w="9525" cap="flat" cmpd="sng" algn="ctr">
                      <a:solidFill>
                        <a:srgbClr val="C9C9C9"/>
                      </a:solidFill>
                      <a:prstDash val="solid"/>
                      <a:round/>
                      <a:headEnd type="none" w="med" len="med"/>
                      <a:tailEnd type="none" w="med" len="med"/>
                    </a:lnT>
                    <a:lnB w="9525" cap="flat" cmpd="sng" algn="ctr">
                      <a:solidFill>
                        <a:srgbClr val="C9C9C9"/>
                      </a:solidFill>
                      <a:prstDash val="solid"/>
                      <a:round/>
                      <a:headEnd type="none" w="med" len="med"/>
                      <a:tailEnd type="none" w="med" len="med"/>
                    </a:lnB>
                  </a:tcPr>
                </a:tc>
                <a:extLst>
                  <a:ext uri="{0D108BD9-81ED-4DB2-BD59-A6C34878D82A}">
                    <a16:rowId xmlns:a16="http://schemas.microsoft.com/office/drawing/2014/main" val="181861916"/>
                  </a:ext>
                </a:extLst>
              </a:tr>
              <a:tr h="495143">
                <a:tc>
                  <a:txBody>
                    <a:bodyPr/>
                    <a:lstStyle/>
                    <a:p>
                      <a:pPr algn="l" rtl="0" fontAlgn="base">
                        <a:lnSpc>
                          <a:spcPts val="1538"/>
                        </a:lnSpc>
                        <a:buNone/>
                      </a:pPr>
                      <a:r>
                        <a:rPr lang="en-US" sz="1100" b="0" i="0">
                          <a:solidFill>
                            <a:schemeClr val="bg1"/>
                          </a:solidFill>
                          <a:effectLst/>
                          <a:latin typeface="Century Gothic"/>
                        </a:rPr>
                        <a:t>String Correctness </a:t>
                      </a:r>
                      <a:r>
                        <a:rPr lang="en-US" sz="1100" b="0" i="0" u="none" strike="noStrike" noProof="0">
                          <a:solidFill>
                            <a:schemeClr val="bg1"/>
                          </a:solidFill>
                          <a:effectLst/>
                          <a:latin typeface="Century Gothic"/>
                        </a:rPr>
                        <a:t>(STD-003)</a:t>
                      </a:r>
                      <a:endParaRPr lang="en-US" sz="1100" b="0" i="0">
                        <a:solidFill>
                          <a:schemeClr val="bg1"/>
                        </a:solidFill>
                        <a:effectLst/>
                        <a:latin typeface="Century Gothic"/>
                      </a:endParaRPr>
                    </a:p>
                  </a:txBody>
                  <a:tcPr marL="66675" marR="66675">
                    <a:lnL w="9525" cap="flat" cmpd="sng" algn="ctr">
                      <a:solidFill>
                        <a:srgbClr val="C9C9C9"/>
                      </a:solidFill>
                      <a:prstDash val="solid"/>
                      <a:round/>
                      <a:headEnd type="none" w="med" len="med"/>
                      <a:tailEnd type="none" w="med" len="med"/>
                    </a:lnL>
                    <a:lnR w="9525" cap="flat" cmpd="sng" algn="ctr">
                      <a:solidFill>
                        <a:srgbClr val="C9C9C9"/>
                      </a:solidFill>
                      <a:prstDash val="solid"/>
                      <a:round/>
                      <a:headEnd type="none" w="med" len="med"/>
                      <a:tailEnd type="none" w="med" len="med"/>
                    </a:lnR>
                    <a:lnT w="9525" cap="flat" cmpd="sng" algn="ctr">
                      <a:solidFill>
                        <a:srgbClr val="C9C9C9"/>
                      </a:solidFill>
                      <a:prstDash val="solid"/>
                      <a:round/>
                      <a:headEnd type="none" w="med" len="med"/>
                      <a:tailEnd type="none" w="med" len="med"/>
                    </a:lnT>
                    <a:lnB w="9525" cap="flat" cmpd="sng" algn="ctr">
                      <a:solidFill>
                        <a:srgbClr val="A5A5A5"/>
                      </a:solidFill>
                      <a:prstDash val="solid"/>
                      <a:round/>
                      <a:headEnd type="none" w="med" len="med"/>
                      <a:tailEnd type="none" w="med" len="med"/>
                    </a:lnB>
                    <a:solidFill>
                      <a:schemeClr val="accent2"/>
                    </a:solidFill>
                  </a:tcPr>
                </a:tc>
                <a:tc>
                  <a:txBody>
                    <a:bodyPr/>
                    <a:lstStyle/>
                    <a:p>
                      <a:pPr lvl="0" algn="l">
                        <a:lnSpc>
                          <a:spcPts val="1538"/>
                        </a:lnSpc>
                        <a:buNone/>
                      </a:pPr>
                      <a:r>
                        <a:rPr lang="en-US" sz="1100" b="0" i="0" u="none" strike="noStrike" baseline="0" noProof="0">
                          <a:solidFill>
                            <a:srgbClr val="FFFFFF"/>
                          </a:solidFill>
                          <a:effectLst/>
                          <a:latin typeface="Century Gothic"/>
                        </a:rPr>
                        <a:t>Developers should use safe string functions and avoid fixed-size buffers when possible.</a:t>
                      </a:r>
                      <a:endParaRPr lang="en-US"/>
                    </a:p>
                  </a:txBody>
                  <a:tcPr marL="66675" marR="66675">
                    <a:lnL w="9525" cap="flat" cmpd="sng" algn="ctr">
                      <a:solidFill>
                        <a:srgbClr val="C9C9C9"/>
                      </a:solidFill>
                      <a:prstDash val="solid"/>
                      <a:round/>
                      <a:headEnd type="none" w="med" len="med"/>
                      <a:tailEnd type="none" w="med" len="med"/>
                    </a:lnL>
                    <a:lnR w="9525" cap="flat" cmpd="sng" algn="ctr">
                      <a:solidFill>
                        <a:srgbClr val="C9C9C9"/>
                      </a:solidFill>
                      <a:prstDash val="solid"/>
                      <a:round/>
                      <a:headEnd type="none" w="med" len="med"/>
                      <a:tailEnd type="none" w="med" len="med"/>
                    </a:lnR>
                    <a:lnT w="9525" cap="flat" cmpd="sng" algn="ctr">
                      <a:solidFill>
                        <a:srgbClr val="C9C9C9"/>
                      </a:solidFill>
                      <a:prstDash val="solid"/>
                      <a:round/>
                      <a:headEnd type="none" w="med" len="med"/>
                      <a:tailEnd type="none" w="med" len="med"/>
                    </a:lnT>
                    <a:lnB w="9525" cap="flat" cmpd="sng" algn="ctr">
                      <a:solidFill>
                        <a:srgbClr val="C9C9C9"/>
                      </a:solidFill>
                      <a:prstDash val="solid"/>
                      <a:round/>
                      <a:headEnd type="none" w="med" len="med"/>
                      <a:tailEnd type="none" w="med" len="med"/>
                    </a:lnB>
                  </a:tcPr>
                </a:tc>
                <a:extLst>
                  <a:ext uri="{0D108BD9-81ED-4DB2-BD59-A6C34878D82A}">
                    <a16:rowId xmlns:a16="http://schemas.microsoft.com/office/drawing/2014/main" val="684240341"/>
                  </a:ext>
                </a:extLst>
              </a:tr>
              <a:tr h="459776">
                <a:tc>
                  <a:txBody>
                    <a:bodyPr/>
                    <a:lstStyle/>
                    <a:p>
                      <a:pPr algn="l" rtl="0" fontAlgn="base">
                        <a:lnSpc>
                          <a:spcPts val="1538"/>
                        </a:lnSpc>
                        <a:buNone/>
                      </a:pPr>
                      <a:r>
                        <a:rPr lang="en-US" sz="1100" b="0" i="0">
                          <a:solidFill>
                            <a:schemeClr val="bg1"/>
                          </a:solidFill>
                          <a:effectLst/>
                          <a:latin typeface="Century Gothic"/>
                        </a:rPr>
                        <a:t>SQL Injection </a:t>
                      </a:r>
                      <a:r>
                        <a:rPr lang="en-US" sz="1100" b="0" i="0" u="none" strike="noStrike" noProof="0">
                          <a:solidFill>
                            <a:schemeClr val="bg1"/>
                          </a:solidFill>
                          <a:effectLst/>
                          <a:latin typeface="Century Gothic"/>
                        </a:rPr>
                        <a:t>(STD-004)</a:t>
                      </a:r>
                      <a:endParaRPr lang="en-US" sz="1100" b="0" i="0">
                        <a:solidFill>
                          <a:schemeClr val="bg1"/>
                        </a:solidFill>
                        <a:effectLst/>
                        <a:latin typeface="Century Gothic"/>
                      </a:endParaRPr>
                    </a:p>
                  </a:txBody>
                  <a:tcPr marL="66675" marR="66675">
                    <a:lnL w="9525" cap="flat" cmpd="sng" algn="ctr">
                      <a:solidFill>
                        <a:srgbClr val="C9C9C9"/>
                      </a:solidFill>
                      <a:prstDash val="solid"/>
                      <a:round/>
                      <a:headEnd type="none" w="med" len="med"/>
                      <a:tailEnd type="none" w="med" len="med"/>
                    </a:lnL>
                    <a:lnR w="9525" cap="flat" cmpd="sng" algn="ctr">
                      <a:solidFill>
                        <a:srgbClr val="C9C9C9"/>
                      </a:solidFill>
                      <a:prstDash val="solid"/>
                      <a:round/>
                      <a:headEnd type="none" w="med" len="med"/>
                      <a:tailEnd type="none" w="med" len="med"/>
                    </a:lnR>
                    <a:lnT w="9525" cap="flat" cmpd="sng" algn="ctr">
                      <a:solidFill>
                        <a:srgbClr val="A5A5A5"/>
                      </a:solidFill>
                      <a:prstDash val="solid"/>
                      <a:round/>
                      <a:headEnd type="none" w="med" len="med"/>
                      <a:tailEnd type="none" w="med" len="med"/>
                    </a:lnT>
                    <a:lnB w="9525" cap="flat" cmpd="sng" algn="ctr">
                      <a:solidFill>
                        <a:srgbClr val="C9C9C9"/>
                      </a:solidFill>
                      <a:prstDash val="solid"/>
                      <a:round/>
                      <a:headEnd type="none" w="med" len="med"/>
                      <a:tailEnd type="none" w="med" len="med"/>
                    </a:lnB>
                    <a:solidFill>
                      <a:schemeClr val="accent2"/>
                    </a:solidFill>
                  </a:tcPr>
                </a:tc>
                <a:tc>
                  <a:txBody>
                    <a:bodyPr/>
                    <a:lstStyle/>
                    <a:p>
                      <a:pPr lvl="0" algn="l">
                        <a:lnSpc>
                          <a:spcPts val="1538"/>
                        </a:lnSpc>
                        <a:buNone/>
                      </a:pPr>
                      <a:r>
                        <a:rPr lang="en-US" sz="1100" b="0" i="0" u="none" strike="noStrike" baseline="0" noProof="0" dirty="0">
                          <a:solidFill>
                            <a:srgbClr val="FFFFFF"/>
                          </a:solidFill>
                          <a:effectLst/>
                          <a:latin typeface="Century Gothic"/>
                        </a:rPr>
                        <a:t>Parameterized queries prevent attackers from modifying the intended query structure.</a:t>
                      </a:r>
                      <a:endParaRPr lang="en-US" dirty="0"/>
                    </a:p>
                  </a:txBody>
                  <a:tcPr marL="66675" marR="66675">
                    <a:lnL w="9525" cap="flat" cmpd="sng" algn="ctr">
                      <a:solidFill>
                        <a:srgbClr val="C9C9C9"/>
                      </a:solidFill>
                      <a:prstDash val="solid"/>
                      <a:round/>
                      <a:headEnd type="none" w="med" len="med"/>
                      <a:tailEnd type="none" w="med" len="med"/>
                    </a:lnL>
                    <a:lnR w="9525" cap="flat" cmpd="sng" algn="ctr">
                      <a:solidFill>
                        <a:srgbClr val="C9C9C9"/>
                      </a:solidFill>
                      <a:prstDash val="solid"/>
                      <a:round/>
                      <a:headEnd type="none" w="med" len="med"/>
                      <a:tailEnd type="none" w="med" len="med"/>
                    </a:lnR>
                    <a:lnT w="9525" cap="flat" cmpd="sng" algn="ctr">
                      <a:solidFill>
                        <a:srgbClr val="C9C9C9"/>
                      </a:solidFill>
                      <a:prstDash val="solid"/>
                      <a:round/>
                      <a:headEnd type="none" w="med" len="med"/>
                      <a:tailEnd type="none" w="med" len="med"/>
                    </a:lnT>
                    <a:lnB w="9525" cap="flat" cmpd="sng" algn="ctr">
                      <a:solidFill>
                        <a:srgbClr val="C9C9C9"/>
                      </a:solidFill>
                      <a:prstDash val="solid"/>
                      <a:round/>
                      <a:headEnd type="none" w="med" len="med"/>
                      <a:tailEnd type="none" w="med" len="med"/>
                    </a:lnB>
                  </a:tcPr>
                </a:tc>
                <a:extLst>
                  <a:ext uri="{0D108BD9-81ED-4DB2-BD59-A6C34878D82A}">
                    <a16:rowId xmlns:a16="http://schemas.microsoft.com/office/drawing/2014/main" val="540702047"/>
                  </a:ext>
                </a:extLst>
              </a:tr>
              <a:tr h="495143">
                <a:tc>
                  <a:txBody>
                    <a:bodyPr/>
                    <a:lstStyle/>
                    <a:p>
                      <a:pPr lvl="0" algn="l">
                        <a:lnSpc>
                          <a:spcPts val="1538"/>
                        </a:lnSpc>
                        <a:buNone/>
                      </a:pPr>
                      <a:r>
                        <a:rPr lang="en-US" sz="1100" b="0" i="0">
                          <a:solidFill>
                            <a:schemeClr val="bg1"/>
                          </a:solidFill>
                          <a:effectLst/>
                          <a:latin typeface="Century Gothic"/>
                        </a:rPr>
                        <a:t>Memory Protection </a:t>
                      </a:r>
                      <a:r>
                        <a:rPr lang="en-US" sz="1100" b="0" i="0" u="none" strike="noStrike" noProof="0">
                          <a:solidFill>
                            <a:schemeClr val="bg1"/>
                          </a:solidFill>
                          <a:effectLst/>
                          <a:latin typeface="Century Gothic"/>
                        </a:rPr>
                        <a:t>(STD-005)</a:t>
                      </a:r>
                      <a:endParaRPr lang="en-US" sz="1100" b="0">
                        <a:latin typeface="Century Gothic"/>
                      </a:endParaRPr>
                    </a:p>
                  </a:txBody>
                  <a:tcPr marL="66675" marR="66675">
                    <a:lnL w="9525" cap="flat" cmpd="sng" algn="ctr">
                      <a:solidFill>
                        <a:srgbClr val="C9C9C9"/>
                      </a:solidFill>
                      <a:prstDash val="solid"/>
                      <a:round/>
                      <a:headEnd type="none" w="med" len="med"/>
                      <a:tailEnd type="none" w="med" len="med"/>
                    </a:lnL>
                    <a:lnR w="9525" cap="flat" cmpd="sng" algn="ctr">
                      <a:solidFill>
                        <a:srgbClr val="C9C9C9"/>
                      </a:solidFill>
                      <a:prstDash val="solid"/>
                      <a:round/>
                      <a:headEnd type="none" w="med" len="med"/>
                      <a:tailEnd type="none" w="med" len="med"/>
                    </a:lnR>
                    <a:lnT w="9525" cap="flat" cmpd="sng" algn="ctr">
                      <a:solidFill>
                        <a:srgbClr val="C9C9C9"/>
                      </a:solidFill>
                      <a:prstDash val="solid"/>
                      <a:round/>
                      <a:headEnd type="none" w="med" len="med"/>
                      <a:tailEnd type="none" w="med" len="med"/>
                    </a:lnT>
                    <a:lnB w="9525" cap="flat" cmpd="sng" algn="ctr">
                      <a:solidFill>
                        <a:srgbClr val="A5A5A5"/>
                      </a:solidFill>
                      <a:prstDash val="solid"/>
                      <a:round/>
                      <a:headEnd type="none" w="med" len="med"/>
                      <a:tailEnd type="none" w="med" len="med"/>
                    </a:lnB>
                    <a:solidFill>
                      <a:schemeClr val="accent2"/>
                    </a:solidFill>
                  </a:tcPr>
                </a:tc>
                <a:tc>
                  <a:txBody>
                    <a:bodyPr/>
                    <a:lstStyle/>
                    <a:p>
                      <a:pPr lvl="0" algn="l">
                        <a:lnSpc>
                          <a:spcPts val="1538"/>
                        </a:lnSpc>
                        <a:buNone/>
                      </a:pPr>
                      <a:r>
                        <a:rPr lang="en-US" sz="1100" b="0" i="0" u="none" strike="noStrike" baseline="0" noProof="0">
                          <a:solidFill>
                            <a:srgbClr val="FFFFFF"/>
                          </a:solidFill>
                          <a:effectLst/>
                          <a:latin typeface="Century Gothic"/>
                        </a:rPr>
                        <a:t>Proper memory management ensures reliability and security.</a:t>
                      </a:r>
                      <a:endParaRPr lang="en-US" sz="1100" b="0" i="0">
                        <a:solidFill>
                          <a:schemeClr val="bg1"/>
                        </a:solidFill>
                        <a:effectLst/>
                        <a:latin typeface="Century Gothic"/>
                      </a:endParaRPr>
                    </a:p>
                  </a:txBody>
                  <a:tcPr marL="66675" marR="66675">
                    <a:lnL w="9525" cap="flat" cmpd="sng" algn="ctr">
                      <a:solidFill>
                        <a:srgbClr val="C9C9C9"/>
                      </a:solidFill>
                      <a:prstDash val="solid"/>
                      <a:round/>
                      <a:headEnd type="none" w="med" len="med"/>
                      <a:tailEnd type="none" w="med" len="med"/>
                    </a:lnL>
                    <a:lnR w="9525" cap="flat" cmpd="sng" algn="ctr">
                      <a:solidFill>
                        <a:srgbClr val="C9C9C9"/>
                      </a:solidFill>
                      <a:prstDash val="solid"/>
                      <a:round/>
                      <a:headEnd type="none" w="med" len="med"/>
                      <a:tailEnd type="none" w="med" len="med"/>
                    </a:lnR>
                    <a:lnT w="9525" cap="flat" cmpd="sng" algn="ctr">
                      <a:solidFill>
                        <a:srgbClr val="C9C9C9"/>
                      </a:solidFill>
                      <a:prstDash val="solid"/>
                      <a:round/>
                      <a:headEnd type="none" w="med" len="med"/>
                      <a:tailEnd type="none" w="med" len="med"/>
                    </a:lnT>
                    <a:lnB w="9525" cap="flat" cmpd="sng" algn="ctr">
                      <a:solidFill>
                        <a:srgbClr val="C9C9C9"/>
                      </a:solidFill>
                      <a:prstDash val="solid"/>
                      <a:round/>
                      <a:headEnd type="none" w="med" len="med"/>
                      <a:tailEnd type="none" w="med" len="med"/>
                    </a:lnB>
                  </a:tcPr>
                </a:tc>
                <a:extLst>
                  <a:ext uri="{0D108BD9-81ED-4DB2-BD59-A6C34878D82A}">
                    <a16:rowId xmlns:a16="http://schemas.microsoft.com/office/drawing/2014/main" val="2771225332"/>
                  </a:ext>
                </a:extLst>
              </a:tr>
              <a:tr h="459776">
                <a:tc>
                  <a:txBody>
                    <a:bodyPr/>
                    <a:lstStyle/>
                    <a:p>
                      <a:pPr lvl="0" algn="l">
                        <a:lnSpc>
                          <a:spcPts val="1538"/>
                        </a:lnSpc>
                        <a:buNone/>
                      </a:pPr>
                      <a:r>
                        <a:rPr lang="en-US" sz="1100" b="0" i="0">
                          <a:solidFill>
                            <a:schemeClr val="bg1"/>
                          </a:solidFill>
                          <a:effectLst/>
                          <a:latin typeface="Century Gothic"/>
                        </a:rPr>
                        <a:t>Assertions </a:t>
                      </a:r>
                      <a:r>
                        <a:rPr lang="en-US" sz="1100" b="0" i="0" u="none" strike="noStrike" noProof="0">
                          <a:solidFill>
                            <a:schemeClr val="bg1"/>
                          </a:solidFill>
                          <a:effectLst/>
                          <a:latin typeface="Century Gothic"/>
                        </a:rPr>
                        <a:t>(STD-006)</a:t>
                      </a:r>
                      <a:endParaRPr lang="en-US" sz="1100" b="0">
                        <a:latin typeface="Century Gothic"/>
                      </a:endParaRPr>
                    </a:p>
                  </a:txBody>
                  <a:tcPr marL="66675" marR="66675">
                    <a:lnL w="9525" cap="flat" cmpd="sng" algn="ctr">
                      <a:solidFill>
                        <a:srgbClr val="C9C9C9"/>
                      </a:solidFill>
                      <a:prstDash val="solid"/>
                      <a:round/>
                      <a:headEnd type="none" w="med" len="med"/>
                      <a:tailEnd type="none" w="med" len="med"/>
                    </a:lnL>
                    <a:lnR w="9525" cap="flat" cmpd="sng" algn="ctr">
                      <a:solidFill>
                        <a:srgbClr val="C9C9C9"/>
                      </a:solidFill>
                      <a:prstDash val="solid"/>
                      <a:round/>
                      <a:headEnd type="none" w="med" len="med"/>
                      <a:tailEnd type="none" w="med" len="med"/>
                    </a:lnR>
                    <a:lnT w="9525" cap="flat" cmpd="sng" algn="ctr">
                      <a:solidFill>
                        <a:srgbClr val="A5A5A5"/>
                      </a:solidFill>
                      <a:prstDash val="solid"/>
                      <a:round/>
                      <a:headEnd type="none" w="med" len="med"/>
                      <a:tailEnd type="none" w="med" len="med"/>
                    </a:lnT>
                    <a:lnB w="9525" cap="flat" cmpd="sng" algn="ctr">
                      <a:solidFill>
                        <a:srgbClr val="C9C9C9"/>
                      </a:solidFill>
                      <a:prstDash val="solid"/>
                      <a:round/>
                      <a:headEnd type="none" w="med" len="med"/>
                      <a:tailEnd type="none" w="med" len="med"/>
                    </a:lnB>
                    <a:solidFill>
                      <a:schemeClr val="accent2"/>
                    </a:solidFill>
                  </a:tcPr>
                </a:tc>
                <a:tc>
                  <a:txBody>
                    <a:bodyPr/>
                    <a:lstStyle/>
                    <a:p>
                      <a:pPr lvl="0" algn="l">
                        <a:lnSpc>
                          <a:spcPts val="1538"/>
                        </a:lnSpc>
                        <a:buNone/>
                      </a:pPr>
                      <a:r>
                        <a:rPr lang="en-US" sz="1100" b="0" i="0" u="none" strike="noStrike" baseline="0" noProof="0">
                          <a:solidFill>
                            <a:srgbClr val="FFFFFF"/>
                          </a:solidFill>
                          <a:effectLst/>
                          <a:latin typeface="Century Gothic"/>
                        </a:rPr>
                        <a:t>Assertions help detect programming errors early by verifying assumptions during development and testing.</a:t>
                      </a:r>
                      <a:endParaRPr lang="en-US" sz="1100" b="0" i="0">
                        <a:solidFill>
                          <a:schemeClr val="bg1"/>
                        </a:solidFill>
                        <a:effectLst/>
                        <a:latin typeface="Century Gothic"/>
                      </a:endParaRPr>
                    </a:p>
                  </a:txBody>
                  <a:tcPr marL="66675" marR="66675">
                    <a:lnL w="9525" cap="flat" cmpd="sng" algn="ctr">
                      <a:solidFill>
                        <a:srgbClr val="C9C9C9"/>
                      </a:solidFill>
                      <a:prstDash val="solid"/>
                      <a:round/>
                      <a:headEnd type="none" w="med" len="med"/>
                      <a:tailEnd type="none" w="med" len="med"/>
                    </a:lnL>
                    <a:lnR w="9525" cap="flat" cmpd="sng" algn="ctr">
                      <a:solidFill>
                        <a:srgbClr val="C9C9C9"/>
                      </a:solidFill>
                      <a:prstDash val="solid"/>
                      <a:round/>
                      <a:headEnd type="none" w="med" len="med"/>
                      <a:tailEnd type="none" w="med" len="med"/>
                    </a:lnR>
                    <a:lnT w="9525" cap="flat" cmpd="sng" algn="ctr">
                      <a:solidFill>
                        <a:srgbClr val="C9C9C9"/>
                      </a:solidFill>
                      <a:prstDash val="solid"/>
                      <a:round/>
                      <a:headEnd type="none" w="med" len="med"/>
                      <a:tailEnd type="none" w="med" len="med"/>
                    </a:lnT>
                    <a:lnB w="9525" cap="flat" cmpd="sng" algn="ctr">
                      <a:solidFill>
                        <a:srgbClr val="C9C9C9"/>
                      </a:solidFill>
                      <a:prstDash val="solid"/>
                      <a:round/>
                      <a:headEnd type="none" w="med" len="med"/>
                      <a:tailEnd type="none" w="med" len="med"/>
                    </a:lnB>
                  </a:tcPr>
                </a:tc>
                <a:extLst>
                  <a:ext uri="{0D108BD9-81ED-4DB2-BD59-A6C34878D82A}">
                    <a16:rowId xmlns:a16="http://schemas.microsoft.com/office/drawing/2014/main" val="3097679573"/>
                  </a:ext>
                </a:extLst>
              </a:tr>
              <a:tr h="459776">
                <a:tc>
                  <a:txBody>
                    <a:bodyPr/>
                    <a:lstStyle/>
                    <a:p>
                      <a:pPr lvl="0" algn="l">
                        <a:lnSpc>
                          <a:spcPts val="1538"/>
                        </a:lnSpc>
                        <a:buNone/>
                      </a:pPr>
                      <a:r>
                        <a:rPr lang="en-US" sz="1100" b="0" i="0">
                          <a:solidFill>
                            <a:schemeClr val="bg1"/>
                          </a:solidFill>
                          <a:effectLst/>
                          <a:latin typeface="Century Gothic"/>
                        </a:rPr>
                        <a:t>Exceptions (STD-007)</a:t>
                      </a:r>
                      <a:endParaRPr lang="en-US" sz="1100" b="0">
                        <a:latin typeface="Century Gothic"/>
                      </a:endParaRPr>
                    </a:p>
                  </a:txBody>
                  <a:tcPr marL="66675" marR="66675">
                    <a:lnL w="9525" cap="flat" cmpd="sng" algn="ctr">
                      <a:solidFill>
                        <a:srgbClr val="C9C9C9"/>
                      </a:solidFill>
                      <a:prstDash val="solid"/>
                      <a:round/>
                      <a:headEnd type="none" w="med" len="med"/>
                      <a:tailEnd type="none" w="med" len="med"/>
                    </a:lnL>
                    <a:lnR w="9525" cap="flat" cmpd="sng" algn="ctr">
                      <a:solidFill>
                        <a:srgbClr val="C9C9C9"/>
                      </a:solidFill>
                      <a:prstDash val="solid"/>
                      <a:round/>
                      <a:headEnd type="none" w="med" len="med"/>
                      <a:tailEnd type="none" w="med" len="med"/>
                    </a:lnR>
                    <a:lnT w="9525" cap="flat" cmpd="sng" algn="ctr">
                      <a:solidFill>
                        <a:srgbClr val="C9C9C9"/>
                      </a:solidFill>
                      <a:prstDash val="solid"/>
                      <a:round/>
                      <a:headEnd type="none" w="med" len="med"/>
                      <a:tailEnd type="none" w="med" len="med"/>
                    </a:lnT>
                    <a:lnB w="9525" cap="flat" cmpd="sng" algn="ctr">
                      <a:solidFill>
                        <a:srgbClr val="A5A5A5"/>
                      </a:solidFill>
                      <a:prstDash val="solid"/>
                      <a:round/>
                      <a:headEnd type="none" w="med" len="med"/>
                      <a:tailEnd type="none" w="med" len="med"/>
                    </a:lnB>
                    <a:solidFill>
                      <a:schemeClr val="accent2"/>
                    </a:solidFill>
                  </a:tcPr>
                </a:tc>
                <a:tc>
                  <a:txBody>
                    <a:bodyPr/>
                    <a:lstStyle/>
                    <a:p>
                      <a:pPr lvl="0" algn="l">
                        <a:lnSpc>
                          <a:spcPts val="1538"/>
                        </a:lnSpc>
                        <a:buNone/>
                      </a:pPr>
                      <a:r>
                        <a:rPr lang="en-US" sz="1100" b="0" i="0" u="none" strike="noStrike" baseline="0" noProof="0">
                          <a:solidFill>
                            <a:srgbClr val="FFFFFF"/>
                          </a:solidFill>
                          <a:effectLst/>
                          <a:latin typeface="Century Gothic"/>
                        </a:rPr>
                        <a:t>Exception handling allows programs to gracefully recover from unexpected errors instead of crashing.</a:t>
                      </a:r>
                      <a:endParaRPr lang="en-US"/>
                    </a:p>
                  </a:txBody>
                  <a:tcPr marL="66675" marR="66675">
                    <a:lnL w="9525" cap="flat" cmpd="sng" algn="ctr">
                      <a:solidFill>
                        <a:srgbClr val="C9C9C9"/>
                      </a:solidFill>
                      <a:prstDash val="solid"/>
                      <a:round/>
                      <a:headEnd type="none" w="med" len="med"/>
                      <a:tailEnd type="none" w="med" len="med"/>
                    </a:lnL>
                    <a:lnR w="9525" cap="flat" cmpd="sng" algn="ctr">
                      <a:solidFill>
                        <a:srgbClr val="C9C9C9"/>
                      </a:solidFill>
                      <a:prstDash val="solid"/>
                      <a:round/>
                      <a:headEnd type="none" w="med" len="med"/>
                      <a:tailEnd type="none" w="med" len="med"/>
                    </a:lnR>
                    <a:lnT w="9525" cap="flat" cmpd="sng" algn="ctr">
                      <a:solidFill>
                        <a:srgbClr val="C9C9C9"/>
                      </a:solidFill>
                      <a:prstDash val="solid"/>
                      <a:round/>
                      <a:headEnd type="none" w="med" len="med"/>
                      <a:tailEnd type="none" w="med" len="med"/>
                    </a:lnT>
                    <a:lnB w="9525" cap="flat" cmpd="sng" algn="ctr">
                      <a:solidFill>
                        <a:srgbClr val="C9C9C9"/>
                      </a:solidFill>
                      <a:prstDash val="solid"/>
                      <a:round/>
                      <a:headEnd type="none" w="med" len="med"/>
                      <a:tailEnd type="none" w="med" len="med"/>
                    </a:lnB>
                  </a:tcPr>
                </a:tc>
                <a:extLst>
                  <a:ext uri="{0D108BD9-81ED-4DB2-BD59-A6C34878D82A}">
                    <a16:rowId xmlns:a16="http://schemas.microsoft.com/office/drawing/2014/main" val="23061095"/>
                  </a:ext>
                </a:extLst>
              </a:tr>
              <a:tr h="459776">
                <a:tc>
                  <a:txBody>
                    <a:bodyPr/>
                    <a:lstStyle/>
                    <a:p>
                      <a:pPr lvl="0" algn="l">
                        <a:lnSpc>
                          <a:spcPts val="1538"/>
                        </a:lnSpc>
                        <a:buNone/>
                      </a:pPr>
                      <a:r>
                        <a:rPr lang="en-US" sz="1100" b="0" i="0">
                          <a:solidFill>
                            <a:schemeClr val="bg1"/>
                          </a:solidFill>
                          <a:effectLst/>
                          <a:latin typeface="Century Gothic"/>
                        </a:rPr>
                        <a:t>Input Validation (STD-008)</a:t>
                      </a:r>
                      <a:endParaRPr lang="en-US" sz="1100" b="0">
                        <a:latin typeface="Century Gothic"/>
                      </a:endParaRPr>
                    </a:p>
                  </a:txBody>
                  <a:tcPr marL="66675" marR="66675">
                    <a:lnL w="9525" cap="flat" cmpd="sng" algn="ctr">
                      <a:solidFill>
                        <a:srgbClr val="C9C9C9"/>
                      </a:solidFill>
                      <a:prstDash val="solid"/>
                      <a:round/>
                      <a:headEnd type="none" w="med" len="med"/>
                      <a:tailEnd type="none" w="med" len="med"/>
                    </a:lnL>
                    <a:lnR w="9525" cap="flat" cmpd="sng" algn="ctr">
                      <a:solidFill>
                        <a:srgbClr val="C9C9C9"/>
                      </a:solidFill>
                      <a:prstDash val="solid"/>
                      <a:round/>
                      <a:headEnd type="none" w="med" len="med"/>
                      <a:tailEnd type="none" w="med" len="med"/>
                    </a:lnR>
                    <a:lnT w="9525" cap="flat" cmpd="sng" algn="ctr">
                      <a:solidFill>
                        <a:srgbClr val="A5A5A5"/>
                      </a:solidFill>
                      <a:prstDash val="solid"/>
                      <a:round/>
                      <a:headEnd type="none" w="med" len="med"/>
                      <a:tailEnd type="none" w="med" len="med"/>
                    </a:lnT>
                    <a:lnB w="9525" cap="flat" cmpd="sng" algn="ctr">
                      <a:solidFill>
                        <a:srgbClr val="C9C9C9"/>
                      </a:solidFill>
                      <a:prstDash val="solid"/>
                      <a:round/>
                      <a:headEnd type="none" w="med" len="med"/>
                      <a:tailEnd type="none" w="med" len="med"/>
                    </a:lnB>
                    <a:solidFill>
                      <a:schemeClr val="accent2"/>
                    </a:solidFill>
                  </a:tcPr>
                </a:tc>
                <a:tc>
                  <a:txBody>
                    <a:bodyPr/>
                    <a:lstStyle/>
                    <a:p>
                      <a:pPr lvl="0" algn="l">
                        <a:lnSpc>
                          <a:spcPts val="1538"/>
                        </a:lnSpc>
                        <a:buNone/>
                      </a:pPr>
                      <a:r>
                        <a:rPr lang="en-US" sz="1100" b="0" i="0" u="none" strike="noStrike" baseline="0" noProof="0">
                          <a:solidFill>
                            <a:srgbClr val="FFFFFF"/>
                          </a:solidFill>
                          <a:effectLst/>
                          <a:latin typeface="Century Gothic"/>
                        </a:rPr>
                        <a:t>Validating inputs prevents malicious data from affecting system operations.</a:t>
                      </a:r>
                      <a:endParaRPr lang="en-US" sz="1100" b="0" i="0">
                        <a:solidFill>
                          <a:schemeClr val="bg1"/>
                        </a:solidFill>
                        <a:effectLst/>
                        <a:latin typeface="Century Gothic"/>
                      </a:endParaRPr>
                    </a:p>
                  </a:txBody>
                  <a:tcPr marL="66675" marR="66675">
                    <a:lnL w="9525" cap="flat" cmpd="sng" algn="ctr">
                      <a:solidFill>
                        <a:srgbClr val="C9C9C9"/>
                      </a:solidFill>
                      <a:prstDash val="solid"/>
                      <a:round/>
                      <a:headEnd type="none" w="med" len="med"/>
                      <a:tailEnd type="none" w="med" len="med"/>
                    </a:lnL>
                    <a:lnR w="9525" cap="flat" cmpd="sng" algn="ctr">
                      <a:solidFill>
                        <a:srgbClr val="C9C9C9"/>
                      </a:solidFill>
                      <a:prstDash val="solid"/>
                      <a:round/>
                      <a:headEnd type="none" w="med" len="med"/>
                      <a:tailEnd type="none" w="med" len="med"/>
                    </a:lnR>
                    <a:lnT w="9525" cap="flat" cmpd="sng" algn="ctr">
                      <a:solidFill>
                        <a:srgbClr val="C9C9C9"/>
                      </a:solidFill>
                      <a:prstDash val="solid"/>
                      <a:round/>
                      <a:headEnd type="none" w="med" len="med"/>
                      <a:tailEnd type="none" w="med" len="med"/>
                    </a:lnT>
                    <a:lnB w="9525" cap="flat" cmpd="sng" algn="ctr">
                      <a:solidFill>
                        <a:srgbClr val="C9C9C9"/>
                      </a:solidFill>
                      <a:prstDash val="solid"/>
                      <a:round/>
                      <a:headEnd type="none" w="med" len="med"/>
                      <a:tailEnd type="none" w="med" len="med"/>
                    </a:lnB>
                  </a:tcPr>
                </a:tc>
                <a:extLst>
                  <a:ext uri="{0D108BD9-81ED-4DB2-BD59-A6C34878D82A}">
                    <a16:rowId xmlns:a16="http://schemas.microsoft.com/office/drawing/2014/main" val="1979535855"/>
                  </a:ext>
                </a:extLst>
              </a:tr>
              <a:tr h="495143">
                <a:tc>
                  <a:txBody>
                    <a:bodyPr/>
                    <a:lstStyle/>
                    <a:p>
                      <a:pPr lvl="0" algn="l">
                        <a:lnSpc>
                          <a:spcPts val="1538"/>
                        </a:lnSpc>
                        <a:buNone/>
                      </a:pPr>
                      <a:r>
                        <a:rPr lang="en-US" sz="1100" b="0" i="0">
                          <a:solidFill>
                            <a:schemeClr val="bg1"/>
                          </a:solidFill>
                          <a:effectLst/>
                          <a:latin typeface="Century Gothic"/>
                        </a:rPr>
                        <a:t>Integer Overflow (STD-009)</a:t>
                      </a:r>
                      <a:endParaRPr lang="en-US" sz="1100" b="0">
                        <a:latin typeface="Century Gothic"/>
                      </a:endParaRPr>
                    </a:p>
                  </a:txBody>
                  <a:tcPr marL="66675" marR="66675">
                    <a:lnL w="9525" cap="flat" cmpd="sng" algn="ctr">
                      <a:solidFill>
                        <a:srgbClr val="C9C9C9"/>
                      </a:solidFill>
                      <a:prstDash val="solid"/>
                      <a:round/>
                      <a:headEnd type="none" w="med" len="med"/>
                      <a:tailEnd type="none" w="med" len="med"/>
                    </a:lnL>
                    <a:lnR w="9525" cap="flat" cmpd="sng" algn="ctr">
                      <a:solidFill>
                        <a:srgbClr val="C9C9C9"/>
                      </a:solidFill>
                      <a:prstDash val="solid"/>
                      <a:round/>
                      <a:headEnd type="none" w="med" len="med"/>
                      <a:tailEnd type="none" w="med" len="med"/>
                    </a:lnR>
                    <a:lnT w="9525" cap="flat" cmpd="sng" algn="ctr">
                      <a:solidFill>
                        <a:srgbClr val="C9C9C9"/>
                      </a:solidFill>
                      <a:prstDash val="solid"/>
                      <a:round/>
                      <a:headEnd type="none" w="med" len="med"/>
                      <a:tailEnd type="none" w="med" len="med"/>
                    </a:lnT>
                    <a:lnB w="9525" cap="flat" cmpd="sng" algn="ctr">
                      <a:solidFill>
                        <a:srgbClr val="A5A5A5"/>
                      </a:solidFill>
                      <a:prstDash val="solid"/>
                      <a:round/>
                      <a:headEnd type="none" w="med" len="med"/>
                      <a:tailEnd type="none" w="med" len="med"/>
                    </a:lnB>
                    <a:solidFill>
                      <a:schemeClr val="accent2"/>
                    </a:solidFill>
                  </a:tcPr>
                </a:tc>
                <a:tc>
                  <a:txBody>
                    <a:bodyPr/>
                    <a:lstStyle/>
                    <a:p>
                      <a:pPr lvl="0" algn="l">
                        <a:lnSpc>
                          <a:spcPts val="1538"/>
                        </a:lnSpc>
                        <a:buNone/>
                      </a:pPr>
                      <a:r>
                        <a:rPr lang="en-US" sz="1100" b="0" i="0" u="none" strike="noStrike" baseline="0" noProof="0">
                          <a:solidFill>
                            <a:srgbClr val="FFFFFF"/>
                          </a:solidFill>
                          <a:effectLst/>
                          <a:latin typeface="Century Gothic"/>
                        </a:rPr>
                        <a:t>Programs must verify numeric operations before execution.</a:t>
                      </a:r>
                      <a:endParaRPr lang="en-US" sz="1100" b="0" i="0">
                        <a:solidFill>
                          <a:schemeClr val="bg1"/>
                        </a:solidFill>
                        <a:effectLst/>
                        <a:latin typeface="Century Gothic"/>
                      </a:endParaRPr>
                    </a:p>
                  </a:txBody>
                  <a:tcPr marL="66675" marR="66675">
                    <a:lnL w="9525" cap="flat" cmpd="sng" algn="ctr">
                      <a:solidFill>
                        <a:srgbClr val="C9C9C9"/>
                      </a:solidFill>
                      <a:prstDash val="solid"/>
                      <a:round/>
                      <a:headEnd type="none" w="med" len="med"/>
                      <a:tailEnd type="none" w="med" len="med"/>
                    </a:lnL>
                    <a:lnR w="9525" cap="flat" cmpd="sng" algn="ctr">
                      <a:solidFill>
                        <a:srgbClr val="C9C9C9"/>
                      </a:solidFill>
                      <a:prstDash val="solid"/>
                      <a:round/>
                      <a:headEnd type="none" w="med" len="med"/>
                      <a:tailEnd type="none" w="med" len="med"/>
                    </a:lnR>
                    <a:lnT w="9525" cap="flat" cmpd="sng" algn="ctr">
                      <a:solidFill>
                        <a:srgbClr val="C9C9C9"/>
                      </a:solidFill>
                      <a:prstDash val="solid"/>
                      <a:round/>
                      <a:headEnd type="none" w="med" len="med"/>
                      <a:tailEnd type="none" w="med" len="med"/>
                    </a:lnT>
                    <a:lnB w="9525" cap="flat" cmpd="sng" algn="ctr">
                      <a:solidFill>
                        <a:srgbClr val="C9C9C9"/>
                      </a:solidFill>
                      <a:prstDash val="solid"/>
                      <a:round/>
                      <a:headEnd type="none" w="med" len="med"/>
                      <a:tailEnd type="none" w="med" len="med"/>
                    </a:lnB>
                  </a:tcPr>
                </a:tc>
                <a:extLst>
                  <a:ext uri="{0D108BD9-81ED-4DB2-BD59-A6C34878D82A}">
                    <a16:rowId xmlns:a16="http://schemas.microsoft.com/office/drawing/2014/main" val="3466139650"/>
                  </a:ext>
                </a:extLst>
              </a:tr>
              <a:tr h="495143">
                <a:tc>
                  <a:txBody>
                    <a:bodyPr/>
                    <a:lstStyle/>
                    <a:p>
                      <a:pPr lvl="0" algn="l">
                        <a:lnSpc>
                          <a:spcPts val="1538"/>
                        </a:lnSpc>
                        <a:buNone/>
                      </a:pPr>
                      <a:r>
                        <a:rPr lang="en-US" sz="1100" b="0" i="0">
                          <a:solidFill>
                            <a:schemeClr val="bg1"/>
                          </a:solidFill>
                          <a:effectLst/>
                          <a:latin typeface="Century Gothic"/>
                        </a:rPr>
                        <a:t>Resource Management (STD-010)</a:t>
                      </a:r>
                      <a:endParaRPr lang="en-US" sz="1100" b="0">
                        <a:latin typeface="Century Gothic"/>
                      </a:endParaRPr>
                    </a:p>
                  </a:txBody>
                  <a:tcPr marL="66675" marR="66675">
                    <a:lnL w="9525" cap="flat" cmpd="sng" algn="ctr">
                      <a:solidFill>
                        <a:srgbClr val="C9C9C9"/>
                      </a:solidFill>
                      <a:prstDash val="solid"/>
                      <a:round/>
                      <a:headEnd type="none" w="med" len="med"/>
                      <a:tailEnd type="none" w="med" len="med"/>
                    </a:lnL>
                    <a:lnR w="9525" cap="flat" cmpd="sng" algn="ctr">
                      <a:solidFill>
                        <a:srgbClr val="C9C9C9"/>
                      </a:solidFill>
                      <a:prstDash val="solid"/>
                      <a:round/>
                      <a:headEnd type="none" w="med" len="med"/>
                      <a:tailEnd type="none" w="med" len="med"/>
                    </a:lnR>
                    <a:lnT w="9525" cap="flat" cmpd="sng" algn="ctr">
                      <a:solidFill>
                        <a:srgbClr val="A5A5A5"/>
                      </a:solidFill>
                      <a:prstDash val="solid"/>
                      <a:round/>
                      <a:headEnd type="none" w="med" len="med"/>
                      <a:tailEnd type="none" w="med" len="med"/>
                    </a:lnT>
                    <a:lnB w="9525" cap="flat" cmpd="sng" algn="ctr">
                      <a:solidFill>
                        <a:srgbClr val="A5A5A5"/>
                      </a:solidFill>
                      <a:prstDash val="solid"/>
                      <a:round/>
                      <a:headEnd type="none" w="med" len="med"/>
                      <a:tailEnd type="none" w="med" len="med"/>
                    </a:lnB>
                    <a:solidFill>
                      <a:schemeClr val="accent2"/>
                    </a:solidFill>
                  </a:tcPr>
                </a:tc>
                <a:tc>
                  <a:txBody>
                    <a:bodyPr/>
                    <a:lstStyle/>
                    <a:p>
                      <a:pPr lvl="0" algn="l">
                        <a:lnSpc>
                          <a:spcPts val="1538"/>
                        </a:lnSpc>
                        <a:buNone/>
                      </a:pPr>
                      <a:r>
                        <a:rPr lang="en-US" sz="1100" b="0" i="0" u="none" strike="noStrike" baseline="0" noProof="0" dirty="0">
                          <a:solidFill>
                            <a:srgbClr val="FFFFFF"/>
                          </a:solidFill>
                          <a:effectLst/>
                          <a:latin typeface="Century Gothic"/>
                        </a:rPr>
                        <a:t>While sources are automatically released when objects go out of scope, cautions should still be </a:t>
                      </a:r>
                      <a:r>
                        <a:rPr lang="en-US" sz="1100" b="0" i="0" u="none" strike="noStrike" baseline="0" noProof="0">
                          <a:solidFill>
                            <a:srgbClr val="FFFFFF"/>
                          </a:solidFill>
                          <a:effectLst/>
                          <a:latin typeface="Century Gothic"/>
                        </a:rPr>
                        <a:t>made while it is in scope.</a:t>
                      </a:r>
                      <a:endParaRPr lang="en-US" sz="1100" b="0" i="0">
                        <a:solidFill>
                          <a:schemeClr val="bg1"/>
                        </a:solidFill>
                        <a:effectLst/>
                        <a:latin typeface="Century Gothic"/>
                      </a:endParaRPr>
                    </a:p>
                  </a:txBody>
                  <a:tcPr marL="66675" marR="66675">
                    <a:lnL w="9525" cap="flat" cmpd="sng" algn="ctr">
                      <a:solidFill>
                        <a:srgbClr val="C9C9C9"/>
                      </a:solidFill>
                      <a:prstDash val="solid"/>
                      <a:round/>
                      <a:headEnd type="none" w="med" len="med"/>
                      <a:tailEnd type="none" w="med" len="med"/>
                    </a:lnL>
                    <a:lnR w="9525" cap="flat" cmpd="sng" algn="ctr">
                      <a:solidFill>
                        <a:srgbClr val="C9C9C9"/>
                      </a:solidFill>
                      <a:prstDash val="solid"/>
                      <a:round/>
                      <a:headEnd type="none" w="med" len="med"/>
                      <a:tailEnd type="none" w="med" len="med"/>
                    </a:lnR>
                    <a:lnT w="9525" cap="flat" cmpd="sng" algn="ctr">
                      <a:solidFill>
                        <a:srgbClr val="C9C9C9"/>
                      </a:solidFill>
                      <a:prstDash val="solid"/>
                      <a:round/>
                      <a:headEnd type="none" w="med" len="med"/>
                      <a:tailEnd type="none" w="med" len="med"/>
                    </a:lnT>
                    <a:lnB w="9525" cap="flat" cmpd="sng" algn="ctr">
                      <a:solidFill>
                        <a:srgbClr val="C9C9C9"/>
                      </a:solidFill>
                      <a:prstDash val="solid"/>
                      <a:round/>
                      <a:headEnd type="none" w="med" len="med"/>
                      <a:tailEnd type="none" w="med" len="med"/>
                    </a:lnB>
                  </a:tcPr>
                </a:tc>
                <a:extLst>
                  <a:ext uri="{0D108BD9-81ED-4DB2-BD59-A6C34878D82A}">
                    <a16:rowId xmlns:a16="http://schemas.microsoft.com/office/drawing/2014/main" val="2086672596"/>
                  </a:ext>
                </a:extLst>
              </a:tr>
            </a:tbl>
          </a:graphicData>
        </a:graphic>
      </p:graphicFrame>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ENCRYPTION POLICIES</a:t>
            </a:r>
            <a:endParaRPr/>
          </a:p>
        </p:txBody>
      </p:sp>
      <p:pic>
        <p:nvPicPr>
          <p:cNvPr id="183" name="Google Shape;183;p7"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graphicFrame>
        <p:nvGraphicFramePr>
          <p:cNvPr id="5" name="Table 4">
            <a:extLst>
              <a:ext uri="{FF2B5EF4-FFF2-40B4-BE49-F238E27FC236}">
                <a16:creationId xmlns:a16="http://schemas.microsoft.com/office/drawing/2014/main" id="{F83C5545-4A34-BD12-0D5B-B33CA0B13DD5}"/>
              </a:ext>
            </a:extLst>
          </p:cNvPr>
          <p:cNvGraphicFramePr>
            <a:graphicFrameLocks noGrp="1"/>
          </p:cNvGraphicFramePr>
          <p:nvPr>
            <p:extLst>
              <p:ext uri="{D42A27DB-BD31-4B8C-83A1-F6EECF244321}">
                <p14:modId xmlns:p14="http://schemas.microsoft.com/office/powerpoint/2010/main" val="590449431"/>
              </p:ext>
            </p:extLst>
          </p:nvPr>
        </p:nvGraphicFramePr>
        <p:xfrm>
          <a:off x="1340734" y="1938759"/>
          <a:ext cx="9518987" cy="4644666"/>
        </p:xfrm>
        <a:graphic>
          <a:graphicData uri="http://schemas.openxmlformats.org/drawingml/2006/table">
            <a:tbl>
              <a:tblPr bandRow="1">
                <a:tableStyleId>{802198C4-3087-4945-87E3-76CBB3509B7E}</a:tableStyleId>
              </a:tblPr>
              <a:tblGrid>
                <a:gridCol w="2231218">
                  <a:extLst>
                    <a:ext uri="{9D8B030D-6E8A-4147-A177-3AD203B41FA5}">
                      <a16:colId xmlns:a16="http://schemas.microsoft.com/office/drawing/2014/main" val="1265829686"/>
                    </a:ext>
                  </a:extLst>
                </a:gridCol>
                <a:gridCol w="7287769">
                  <a:extLst>
                    <a:ext uri="{9D8B030D-6E8A-4147-A177-3AD203B41FA5}">
                      <a16:colId xmlns:a16="http://schemas.microsoft.com/office/drawing/2014/main" val="3467213647"/>
                    </a:ext>
                  </a:extLst>
                </a:gridCol>
              </a:tblGrid>
              <a:tr h="1548222">
                <a:tc>
                  <a:txBody>
                    <a:bodyPr/>
                    <a:lstStyle/>
                    <a:p>
                      <a:pPr algn="l" rtl="0" fontAlgn="base">
                        <a:lnSpc>
                          <a:spcPts val="1538"/>
                        </a:lnSpc>
                        <a:buNone/>
                      </a:pPr>
                      <a:r>
                        <a:rPr lang="en-US" sz="1800" b="0" i="0">
                          <a:solidFill>
                            <a:schemeClr val="bg1"/>
                          </a:solidFill>
                          <a:effectLst/>
                          <a:latin typeface="Century Gothic"/>
                        </a:rPr>
                        <a:t>Encryption at rest </a:t>
                      </a:r>
                      <a:endParaRPr lang="en-US" sz="1800" b="0" i="0" dirty="0">
                        <a:solidFill>
                          <a:schemeClr val="bg1"/>
                        </a:solidFill>
                        <a:effectLst/>
                        <a:latin typeface="Century Gothic"/>
                      </a:endParaRPr>
                    </a:p>
                  </a:txBody>
                  <a:tcPr marL="57150" marR="57150" marT="57150" marB="571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pPr algn="l" rtl="0" fontAlgn="base">
                        <a:lnSpc>
                          <a:spcPts val="1538"/>
                        </a:lnSpc>
                        <a:buNone/>
                      </a:pPr>
                      <a:r>
                        <a:rPr lang="en-US" sz="1600" b="0" i="0" dirty="0">
                          <a:solidFill>
                            <a:schemeClr val="bg1"/>
                          </a:solidFill>
                          <a:effectLst/>
                          <a:latin typeface="Century Gothic"/>
                        </a:rPr>
                        <a:t>Keeps </a:t>
                      </a:r>
                      <a:r>
                        <a:rPr lang="en-US" sz="1600" b="1" i="1" dirty="0">
                          <a:solidFill>
                            <a:schemeClr val="bg1"/>
                          </a:solidFill>
                          <a:effectLst/>
                          <a:latin typeface="Century Gothic"/>
                        </a:rPr>
                        <a:t>stored</a:t>
                      </a:r>
                      <a:r>
                        <a:rPr lang="en-US" sz="1600" b="0" i="0" dirty="0">
                          <a:solidFill>
                            <a:schemeClr val="bg1"/>
                          </a:solidFill>
                          <a:effectLst/>
                          <a:latin typeface="Century Gothic"/>
                        </a:rPr>
                        <a:t> data secure by using strong encryption methods like AES-256. The data remains protected even if someone gains unauthorized access to the storage system.</a:t>
                      </a:r>
                    </a:p>
                  </a:txBody>
                  <a:tcPr marL="57150" marR="57150" marT="57150" marB="571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2869881318"/>
                  </a:ext>
                </a:extLst>
              </a:tr>
              <a:tr h="1548222">
                <a:tc>
                  <a:txBody>
                    <a:bodyPr/>
                    <a:lstStyle/>
                    <a:p>
                      <a:pPr algn="l" rtl="0" fontAlgn="base">
                        <a:lnSpc>
                          <a:spcPts val="1538"/>
                        </a:lnSpc>
                        <a:buNone/>
                      </a:pPr>
                      <a:r>
                        <a:rPr lang="en-US" sz="1800" b="0" i="0">
                          <a:solidFill>
                            <a:schemeClr val="bg1"/>
                          </a:solidFill>
                          <a:effectLst/>
                          <a:latin typeface="Century Gothic"/>
                        </a:rPr>
                        <a:t>Encryption in flight </a:t>
                      </a:r>
                      <a:endParaRPr lang="en-US" sz="1800" b="0" i="0" dirty="0">
                        <a:solidFill>
                          <a:schemeClr val="bg1"/>
                        </a:solidFill>
                        <a:effectLst/>
                        <a:latin typeface="Century Gothic"/>
                      </a:endParaRPr>
                    </a:p>
                  </a:txBody>
                  <a:tcPr marL="57150" marR="57150" marT="57150" marB="571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pPr algn="l" rtl="0" fontAlgn="base">
                        <a:lnSpc>
                          <a:spcPts val="1538"/>
                        </a:lnSpc>
                        <a:buNone/>
                      </a:pPr>
                      <a:r>
                        <a:rPr lang="en-US" sz="1600" b="0" i="0" dirty="0">
                          <a:solidFill>
                            <a:schemeClr val="bg1"/>
                          </a:solidFill>
                          <a:effectLst/>
                          <a:latin typeface="Century Gothic"/>
                        </a:rPr>
                        <a:t>Encryption in flight protects data as it is being </a:t>
                      </a:r>
                      <a:r>
                        <a:rPr lang="en-US" sz="1600" b="1" i="1" dirty="0">
                          <a:solidFill>
                            <a:schemeClr val="bg1"/>
                          </a:solidFill>
                          <a:effectLst/>
                          <a:latin typeface="Century Gothic"/>
                        </a:rPr>
                        <a:t>transferred</a:t>
                      </a:r>
                      <a:r>
                        <a:rPr lang="en-US" sz="1600" b="0" i="0" dirty="0">
                          <a:solidFill>
                            <a:schemeClr val="bg1"/>
                          </a:solidFill>
                          <a:effectLst/>
                          <a:latin typeface="Century Gothic"/>
                        </a:rPr>
                        <a:t>. Using secure protocols like TLS prevents anyone from intercepting or tampering with the data while it’s being transmitted.</a:t>
                      </a:r>
                    </a:p>
                  </a:txBody>
                  <a:tcPr marL="57150" marR="57150" marT="57150" marB="571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3505239857"/>
                  </a:ext>
                </a:extLst>
              </a:tr>
              <a:tr h="1548222">
                <a:tc>
                  <a:txBody>
                    <a:bodyPr/>
                    <a:lstStyle/>
                    <a:p>
                      <a:pPr algn="l" rtl="0" fontAlgn="base">
                        <a:lnSpc>
                          <a:spcPts val="1538"/>
                        </a:lnSpc>
                        <a:buNone/>
                      </a:pPr>
                      <a:r>
                        <a:rPr lang="en-US" sz="1800" b="0" i="0">
                          <a:solidFill>
                            <a:schemeClr val="bg1"/>
                          </a:solidFill>
                          <a:effectLst/>
                          <a:latin typeface="Century Gothic"/>
                        </a:rPr>
                        <a:t>Encryption in use </a:t>
                      </a:r>
                      <a:endParaRPr lang="en-US" sz="1800" b="0" i="0" dirty="0">
                        <a:solidFill>
                          <a:schemeClr val="bg1"/>
                        </a:solidFill>
                        <a:effectLst/>
                        <a:latin typeface="Century Gothic"/>
                      </a:endParaRPr>
                    </a:p>
                  </a:txBody>
                  <a:tcPr marL="57150" marR="57150" marT="57150" marB="571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pPr algn="l" rtl="0" fontAlgn="base">
                        <a:lnSpc>
                          <a:spcPts val="1538"/>
                        </a:lnSpc>
                        <a:buNone/>
                      </a:pPr>
                      <a:r>
                        <a:rPr lang="en-US" sz="1600" b="0" i="0" dirty="0">
                          <a:solidFill>
                            <a:schemeClr val="bg1"/>
                          </a:solidFill>
                          <a:effectLst/>
                          <a:latin typeface="Century Gothic"/>
                        </a:rPr>
                        <a:t>Encryption in use focuses on protecting data while it’s actively being </a:t>
                      </a:r>
                      <a:r>
                        <a:rPr lang="en-US" sz="1600" b="1" i="1" dirty="0">
                          <a:solidFill>
                            <a:schemeClr val="bg1"/>
                          </a:solidFill>
                          <a:effectLst/>
                          <a:latin typeface="Century Gothic"/>
                        </a:rPr>
                        <a:t>processed</a:t>
                      </a:r>
                      <a:r>
                        <a:rPr lang="en-US" sz="1600" b="0" i="0" dirty="0">
                          <a:solidFill>
                            <a:schemeClr val="bg1"/>
                          </a:solidFill>
                          <a:effectLst/>
                          <a:latin typeface="Century Gothic"/>
                        </a:rPr>
                        <a:t> in memory. Technologies like memory protection help keep sensitive information safe even during runtime. </a:t>
                      </a:r>
                    </a:p>
                  </a:txBody>
                  <a:tcPr marL="57150" marR="57150" marT="57150" marB="571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4138605099"/>
                  </a:ext>
                </a:extLst>
              </a:tr>
            </a:tbl>
          </a:graphicData>
        </a:graphic>
      </p:graphicFrame>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TRIPLE-A POLICIES</a:t>
            </a:r>
            <a:endParaRPr/>
          </a:p>
        </p:txBody>
      </p:sp>
      <p:pic>
        <p:nvPicPr>
          <p:cNvPr id="190" name="Google Shape;190;p8"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graphicFrame>
        <p:nvGraphicFramePr>
          <p:cNvPr id="5" name="Table 4">
            <a:extLst>
              <a:ext uri="{FF2B5EF4-FFF2-40B4-BE49-F238E27FC236}">
                <a16:creationId xmlns:a16="http://schemas.microsoft.com/office/drawing/2014/main" id="{6377E8B5-E3A3-413A-E7DD-1EF07161B089}"/>
              </a:ext>
            </a:extLst>
          </p:cNvPr>
          <p:cNvGraphicFramePr>
            <a:graphicFrameLocks noGrp="1"/>
          </p:cNvGraphicFramePr>
          <p:nvPr>
            <p:extLst>
              <p:ext uri="{D42A27DB-BD31-4B8C-83A1-F6EECF244321}">
                <p14:modId xmlns:p14="http://schemas.microsoft.com/office/powerpoint/2010/main" val="3486707230"/>
              </p:ext>
            </p:extLst>
          </p:nvPr>
        </p:nvGraphicFramePr>
        <p:xfrm>
          <a:off x="839164" y="2054505"/>
          <a:ext cx="10115391" cy="4117620"/>
        </p:xfrm>
        <a:graphic>
          <a:graphicData uri="http://schemas.openxmlformats.org/drawingml/2006/table">
            <a:tbl>
              <a:tblPr bandRow="1">
                <a:tableStyleId>{802198C4-3087-4945-87E3-76CBB3509B7E}</a:tableStyleId>
              </a:tblPr>
              <a:tblGrid>
                <a:gridCol w="1941170">
                  <a:extLst>
                    <a:ext uri="{9D8B030D-6E8A-4147-A177-3AD203B41FA5}">
                      <a16:colId xmlns:a16="http://schemas.microsoft.com/office/drawing/2014/main" val="4054392275"/>
                    </a:ext>
                  </a:extLst>
                </a:gridCol>
                <a:gridCol w="8174221">
                  <a:extLst>
                    <a:ext uri="{9D8B030D-6E8A-4147-A177-3AD203B41FA5}">
                      <a16:colId xmlns:a16="http://schemas.microsoft.com/office/drawing/2014/main" val="734436223"/>
                    </a:ext>
                  </a:extLst>
                </a:gridCol>
              </a:tblGrid>
              <a:tr h="1600296">
                <a:tc>
                  <a:txBody>
                    <a:bodyPr/>
                    <a:lstStyle/>
                    <a:p>
                      <a:pPr algn="l" rtl="0" fontAlgn="base">
                        <a:lnSpc>
                          <a:spcPts val="1538"/>
                        </a:lnSpc>
                        <a:buNone/>
                      </a:pPr>
                      <a:r>
                        <a:rPr lang="en-US" sz="1600" b="0" i="0">
                          <a:solidFill>
                            <a:schemeClr val="bg1"/>
                          </a:solidFill>
                          <a:effectLst/>
                          <a:latin typeface="Century Gothic"/>
                        </a:rPr>
                        <a:t>Authentication </a:t>
                      </a:r>
                      <a:endParaRPr lang="en-US" sz="1600" b="0" i="0" dirty="0">
                        <a:solidFill>
                          <a:schemeClr val="bg1"/>
                        </a:solidFill>
                        <a:effectLst/>
                        <a:latin typeface="Century Gothic"/>
                      </a:endParaRPr>
                    </a:p>
                  </a:txBody>
                  <a:tcPr marL="57150" marR="57150" marT="57150" marB="571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pPr algn="l" rtl="0" fontAlgn="base">
                        <a:lnSpc>
                          <a:spcPts val="1538"/>
                        </a:lnSpc>
                        <a:buNone/>
                      </a:pPr>
                      <a:r>
                        <a:rPr lang="en-US" sz="1600" b="0" i="0">
                          <a:solidFill>
                            <a:schemeClr val="bg1"/>
                          </a:solidFill>
                          <a:effectLst/>
                          <a:latin typeface="Century Gothic"/>
                        </a:rPr>
                        <a:t>Authentication confirms that users are who they say they are before granting access to the system or its resources. This can include methods like passwords combined with multi-factor authentication for entry points into the system. </a:t>
                      </a:r>
                      <a:endParaRPr lang="en-US" sz="1600" b="0" i="0" dirty="0">
                        <a:solidFill>
                          <a:schemeClr val="bg1"/>
                        </a:solidFill>
                        <a:effectLst/>
                        <a:latin typeface="Century Gothic"/>
                      </a:endParaRPr>
                    </a:p>
                  </a:txBody>
                  <a:tcPr marL="57150" marR="57150" marT="57150" marB="571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2581788883"/>
                  </a:ext>
                </a:extLst>
              </a:tr>
              <a:tr h="1258662">
                <a:tc>
                  <a:txBody>
                    <a:bodyPr/>
                    <a:lstStyle/>
                    <a:p>
                      <a:pPr algn="l" rtl="0" fontAlgn="base">
                        <a:lnSpc>
                          <a:spcPts val="1538"/>
                        </a:lnSpc>
                        <a:buNone/>
                      </a:pPr>
                      <a:r>
                        <a:rPr lang="en-US" sz="1600" b="0" i="0">
                          <a:solidFill>
                            <a:schemeClr val="bg1"/>
                          </a:solidFill>
                          <a:effectLst/>
                          <a:latin typeface="Century Gothic"/>
                        </a:rPr>
                        <a:t>Authorization </a:t>
                      </a:r>
                      <a:endParaRPr lang="en-US" sz="1600" b="0" i="0" dirty="0">
                        <a:solidFill>
                          <a:schemeClr val="bg1"/>
                        </a:solidFill>
                        <a:effectLst/>
                        <a:latin typeface="Century Gothic"/>
                      </a:endParaRPr>
                    </a:p>
                  </a:txBody>
                  <a:tcPr marL="57150" marR="57150" marT="57150" marB="571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pPr algn="l" rtl="0" fontAlgn="base">
                        <a:lnSpc>
                          <a:spcPts val="1538"/>
                        </a:lnSpc>
                        <a:buNone/>
                      </a:pPr>
                      <a:r>
                        <a:rPr lang="en-US" sz="1600" b="0" i="0" dirty="0">
                          <a:solidFill>
                            <a:schemeClr val="bg1"/>
                          </a:solidFill>
                          <a:effectLst/>
                          <a:latin typeface="Century Gothic"/>
                        </a:rPr>
                        <a:t>Authorization determines what a user is allowed to do. By using role-based access control, users are only given access to the information and actions necessary for their role. </a:t>
                      </a:r>
                    </a:p>
                  </a:txBody>
                  <a:tcPr marL="57150" marR="57150" marT="57150" marB="571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3386105304"/>
                  </a:ext>
                </a:extLst>
              </a:tr>
              <a:tr h="1258662">
                <a:tc>
                  <a:txBody>
                    <a:bodyPr/>
                    <a:lstStyle/>
                    <a:p>
                      <a:pPr algn="l" rtl="0" fontAlgn="base">
                        <a:lnSpc>
                          <a:spcPts val="1538"/>
                        </a:lnSpc>
                        <a:buNone/>
                      </a:pPr>
                      <a:r>
                        <a:rPr lang="en-US" sz="1600" b="0" i="0">
                          <a:solidFill>
                            <a:schemeClr val="bg1"/>
                          </a:solidFill>
                          <a:effectLst/>
                          <a:latin typeface="Century Gothic"/>
                        </a:rPr>
                        <a:t>Accounting </a:t>
                      </a:r>
                      <a:endParaRPr lang="en-US" sz="1600" b="0" i="0" dirty="0">
                        <a:solidFill>
                          <a:schemeClr val="bg1"/>
                        </a:solidFill>
                        <a:effectLst/>
                        <a:latin typeface="Century Gothic"/>
                      </a:endParaRPr>
                    </a:p>
                  </a:txBody>
                  <a:tcPr marL="57150" marR="57150" marT="57150" marB="571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2"/>
                    </a:solidFill>
                  </a:tcPr>
                </a:tc>
                <a:tc>
                  <a:txBody>
                    <a:bodyPr/>
                    <a:lstStyle/>
                    <a:p>
                      <a:pPr algn="l" rtl="0" fontAlgn="base">
                        <a:lnSpc>
                          <a:spcPts val="1538"/>
                        </a:lnSpc>
                        <a:buNone/>
                      </a:pPr>
                      <a:r>
                        <a:rPr lang="en-US" sz="1600" b="0" i="0">
                          <a:solidFill>
                            <a:schemeClr val="bg1"/>
                          </a:solidFill>
                          <a:effectLst/>
                          <a:latin typeface="Century Gothic"/>
                        </a:rPr>
                        <a:t>Accounting keeps track of what users do within the system with a log of activities </a:t>
                      </a:r>
                      <a:r>
                        <a:rPr lang="en-US" sz="1600" b="0" i="0" dirty="0">
                          <a:solidFill>
                            <a:schemeClr val="bg1"/>
                          </a:solidFill>
                          <a:effectLst/>
                          <a:latin typeface="Century Gothic"/>
                        </a:rPr>
                        <a:t>like logins, file access, and database changes. These records provide visibility, support auditing, and help detect and respond to potential security incidents. </a:t>
                      </a:r>
                    </a:p>
                  </a:txBody>
                  <a:tcPr marL="57150" marR="57150" marT="57150" marB="571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3357345773"/>
                  </a:ext>
                </a:extLst>
              </a:tr>
            </a:tbl>
          </a:graphicData>
        </a:graphic>
      </p:graphicFrame>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8B89E20B-3CF7-46AD-1589-48BC177A4B65}"/>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5131F23F-EFA7-3BCE-030D-C1B7B336D784}"/>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r">
              <a:lnSpc>
                <a:spcPct val="90000"/>
              </a:lnSpc>
              <a:spcBef>
                <a:spcPts val="0"/>
              </a:spcBef>
              <a:spcAft>
                <a:spcPts val="0"/>
              </a:spcAft>
              <a:buNone/>
            </a:pPr>
            <a:r>
              <a:rPr lang="en-US" dirty="0" err="1"/>
              <a:t>IsEmptyOnCreate</a:t>
            </a:r>
          </a:p>
        </p:txBody>
      </p:sp>
      <p:sp>
        <p:nvSpPr>
          <p:cNvPr id="196" name="Google Shape;196;g9504e29505_0_0">
            <a:extLst>
              <a:ext uri="{FF2B5EF4-FFF2-40B4-BE49-F238E27FC236}">
                <a16:creationId xmlns:a16="http://schemas.microsoft.com/office/drawing/2014/main" id="{F98D0AEB-D5C5-58F4-1C59-31E094851AD5}"/>
              </a:ext>
            </a:extLst>
          </p:cNvPr>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228600" indent="-228600"/>
            <a:r>
              <a:rPr lang="en-US"/>
              <a:t>Test to ensure newly instantiated collections return true when checked for being empty as well as verifying their size is 0</a:t>
            </a:r>
          </a:p>
          <a:p>
            <a:pPr marL="228600" indent="-228600"/>
            <a:r>
              <a:rPr lang="en-US"/>
              <a:t>Necessary to ensure there is no junk data being incorporated into the creation of a collection</a:t>
            </a:r>
            <a:endParaRPr lang="en-US" dirty="0"/>
          </a:p>
        </p:txBody>
      </p:sp>
      <p:sp>
        <p:nvSpPr>
          <p:cNvPr id="2" name="Text Placeholder 1">
            <a:extLst>
              <a:ext uri="{FF2B5EF4-FFF2-40B4-BE49-F238E27FC236}">
                <a16:creationId xmlns:a16="http://schemas.microsoft.com/office/drawing/2014/main" id="{1A6553BC-6071-1161-2EEA-A52E0BA0AAE0}"/>
              </a:ext>
            </a:extLst>
          </p:cNvPr>
          <p:cNvSpPr>
            <a:spLocks noGrp="1"/>
          </p:cNvSpPr>
          <p:nvPr>
            <p:ph type="body" idx="2"/>
          </p:nvPr>
        </p:nvSpPr>
        <p:spPr/>
        <p:txBody>
          <a:bodyPr/>
          <a:lstStyle/>
          <a:p>
            <a:pPr marL="114300" indent="0">
              <a:buNone/>
            </a:pPr>
            <a:endParaRPr lang="en-US"/>
          </a:p>
        </p:txBody>
      </p:sp>
      <p:pic>
        <p:nvPicPr>
          <p:cNvPr id="197" name="Google Shape;197;g9504e29505_0_0" descr="Green Pace logo">
            <a:extLst>
              <a:ext uri="{FF2B5EF4-FFF2-40B4-BE49-F238E27FC236}">
                <a16:creationId xmlns:a16="http://schemas.microsoft.com/office/drawing/2014/main" id="{DDDBE55E-3CF8-9539-1721-473B85FF4AD7}"/>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3" name="Picture 2" descr="A black background with white text&#10;&#10;AI-generated content may be incorrect.">
            <a:extLst>
              <a:ext uri="{FF2B5EF4-FFF2-40B4-BE49-F238E27FC236}">
                <a16:creationId xmlns:a16="http://schemas.microsoft.com/office/drawing/2014/main" id="{9980F1D8-2A88-C028-E959-4959ABD37C89}"/>
              </a:ext>
            </a:extLst>
          </p:cNvPr>
          <p:cNvPicPr>
            <a:picLocks noChangeAspect="1"/>
          </p:cNvPicPr>
          <p:nvPr/>
        </p:nvPicPr>
        <p:blipFill>
          <a:blip r:embed="rId5"/>
          <a:stretch>
            <a:fillRect/>
          </a:stretch>
        </p:blipFill>
        <p:spPr>
          <a:xfrm>
            <a:off x="6326104" y="2278981"/>
            <a:ext cx="4552950" cy="495300"/>
          </a:xfrm>
          <a:prstGeom prst="rect">
            <a:avLst/>
          </a:prstGeom>
        </p:spPr>
      </p:pic>
      <p:pic>
        <p:nvPicPr>
          <p:cNvPr id="4" name="Picture 3" descr="A computer code on a black background&#10;&#10;AI-generated content may be incorrect.">
            <a:extLst>
              <a:ext uri="{FF2B5EF4-FFF2-40B4-BE49-F238E27FC236}">
                <a16:creationId xmlns:a16="http://schemas.microsoft.com/office/drawing/2014/main" id="{7B995D3C-B79B-6844-E3BC-CC7EF4470BEA}"/>
              </a:ext>
            </a:extLst>
          </p:cNvPr>
          <p:cNvPicPr>
            <a:picLocks noChangeAspect="1"/>
          </p:cNvPicPr>
          <p:nvPr/>
        </p:nvPicPr>
        <p:blipFill>
          <a:blip r:embed="rId6"/>
          <a:stretch>
            <a:fillRect/>
          </a:stretch>
        </p:blipFill>
        <p:spPr>
          <a:xfrm>
            <a:off x="6290009" y="2905376"/>
            <a:ext cx="5086350" cy="2009775"/>
          </a:xfrm>
          <a:prstGeom prst="rect">
            <a:avLst/>
          </a:prstGeom>
        </p:spPr>
      </p:pic>
    </p:spTree>
    <p:custDataLst>
      <p:tags r:id="rId1"/>
    </p:custDataLst>
    <p:extLst>
      <p:ext uri="{BB962C8B-B14F-4D97-AF65-F5344CB8AC3E}">
        <p14:creationId xmlns:p14="http://schemas.microsoft.com/office/powerpoint/2010/main" val="18136751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2B253701-F766-4105-98D3-771DD837E96C}"/>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617E81AB-5272-508D-A55D-8C01EDE6BE55}"/>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r">
              <a:lnSpc>
                <a:spcPct val="90000"/>
              </a:lnSpc>
              <a:spcBef>
                <a:spcPts val="0"/>
              </a:spcBef>
              <a:spcAft>
                <a:spcPts val="0"/>
              </a:spcAft>
              <a:buNone/>
            </a:pPr>
            <a:r>
              <a:rPr lang="en-US" dirty="0" err="1"/>
              <a:t>CanAddToEmptyVector</a:t>
            </a:r>
          </a:p>
        </p:txBody>
      </p:sp>
      <p:sp>
        <p:nvSpPr>
          <p:cNvPr id="196" name="Google Shape;196;g9504e29505_0_0">
            <a:extLst>
              <a:ext uri="{FF2B5EF4-FFF2-40B4-BE49-F238E27FC236}">
                <a16:creationId xmlns:a16="http://schemas.microsoft.com/office/drawing/2014/main" id="{294243D4-E58A-C8FE-8C71-94BD8F881293}"/>
              </a:ext>
            </a:extLst>
          </p:cNvPr>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228600" indent="-228600"/>
            <a:r>
              <a:rPr lang="en-US" dirty="0"/>
              <a:t>Validates that a collection can have </a:t>
            </a:r>
            <a:r>
              <a:rPr lang="en-US"/>
              <a:t>an element added to it and its size reports as 1 (if starting from 0)</a:t>
            </a:r>
          </a:p>
          <a:p>
            <a:pPr marL="228600" indent="-228600"/>
            <a:r>
              <a:rPr lang="en-US"/>
              <a:t>Necessary to ensure that collection objects can house the data necessary for proper processing</a:t>
            </a:r>
            <a:endParaRPr lang="en-US" dirty="0"/>
          </a:p>
        </p:txBody>
      </p:sp>
      <p:sp>
        <p:nvSpPr>
          <p:cNvPr id="2" name="Text Placeholder 1">
            <a:extLst>
              <a:ext uri="{FF2B5EF4-FFF2-40B4-BE49-F238E27FC236}">
                <a16:creationId xmlns:a16="http://schemas.microsoft.com/office/drawing/2014/main" id="{DF2F8C6C-E053-7C28-EE28-32872C12D7D9}"/>
              </a:ext>
            </a:extLst>
          </p:cNvPr>
          <p:cNvSpPr>
            <a:spLocks noGrp="1"/>
          </p:cNvSpPr>
          <p:nvPr>
            <p:ph type="body" idx="2"/>
          </p:nvPr>
        </p:nvSpPr>
        <p:spPr/>
        <p:txBody>
          <a:bodyPr/>
          <a:lstStyle/>
          <a:p>
            <a:pPr marL="114300" indent="0">
              <a:buNone/>
            </a:pPr>
            <a:endParaRPr lang="en-US"/>
          </a:p>
        </p:txBody>
      </p:sp>
      <p:pic>
        <p:nvPicPr>
          <p:cNvPr id="197" name="Google Shape;197;g9504e29505_0_0" descr="Green Pace logo">
            <a:extLst>
              <a:ext uri="{FF2B5EF4-FFF2-40B4-BE49-F238E27FC236}">
                <a16:creationId xmlns:a16="http://schemas.microsoft.com/office/drawing/2014/main" id="{1E319343-A419-D924-4676-11A8D47EDAC8}"/>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6" name="Picture 5">
            <a:extLst>
              <a:ext uri="{FF2B5EF4-FFF2-40B4-BE49-F238E27FC236}">
                <a16:creationId xmlns:a16="http://schemas.microsoft.com/office/drawing/2014/main" id="{C4174EF6-9DB9-5E76-6FD1-9F809A4C42EC}"/>
              </a:ext>
            </a:extLst>
          </p:cNvPr>
          <p:cNvPicPr>
            <a:picLocks noChangeAspect="1"/>
          </p:cNvPicPr>
          <p:nvPr/>
        </p:nvPicPr>
        <p:blipFill>
          <a:blip r:embed="rId5"/>
          <a:stretch>
            <a:fillRect/>
          </a:stretch>
        </p:blipFill>
        <p:spPr>
          <a:xfrm>
            <a:off x="6289508" y="2312320"/>
            <a:ext cx="4686300" cy="428625"/>
          </a:xfrm>
          <a:prstGeom prst="rect">
            <a:avLst/>
          </a:prstGeom>
        </p:spPr>
      </p:pic>
      <p:pic>
        <p:nvPicPr>
          <p:cNvPr id="7" name="Picture 6" descr="A screen shot of a computer code&#10;&#10;AI-generated content may be incorrect.">
            <a:extLst>
              <a:ext uri="{FF2B5EF4-FFF2-40B4-BE49-F238E27FC236}">
                <a16:creationId xmlns:a16="http://schemas.microsoft.com/office/drawing/2014/main" id="{FD6DEF9F-9700-2F5A-B138-77CB43E5F5A8}"/>
              </a:ext>
            </a:extLst>
          </p:cNvPr>
          <p:cNvPicPr>
            <a:picLocks noChangeAspect="1"/>
          </p:cNvPicPr>
          <p:nvPr/>
        </p:nvPicPr>
        <p:blipFill>
          <a:blip r:embed="rId6"/>
          <a:stretch>
            <a:fillRect/>
          </a:stretch>
        </p:blipFill>
        <p:spPr>
          <a:xfrm>
            <a:off x="6304548" y="2937208"/>
            <a:ext cx="5067300" cy="1705477"/>
          </a:xfrm>
          <a:prstGeom prst="rect">
            <a:avLst/>
          </a:prstGeom>
        </p:spPr>
      </p:pic>
    </p:spTree>
    <p:custDataLst>
      <p:tags r:id="rId1"/>
    </p:custDataLst>
    <p:extLst>
      <p:ext uri="{BB962C8B-B14F-4D97-AF65-F5344CB8AC3E}">
        <p14:creationId xmlns:p14="http://schemas.microsoft.com/office/powerpoint/2010/main" val="3667185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1ECFFB1F-F114-20FC-C4D9-F592A2CC2C81}"/>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A840D852-42E5-8A47-5185-FD33205B75FF}"/>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r">
              <a:lnSpc>
                <a:spcPct val="90000"/>
              </a:lnSpc>
              <a:spcBef>
                <a:spcPts val="0"/>
              </a:spcBef>
              <a:spcAft>
                <a:spcPts val="0"/>
              </a:spcAft>
              <a:buNone/>
            </a:pPr>
            <a:r>
              <a:rPr lang="en-US" dirty="0" err="1"/>
              <a:t>ClearEmptiesCollection</a:t>
            </a:r>
          </a:p>
        </p:txBody>
      </p:sp>
      <p:sp>
        <p:nvSpPr>
          <p:cNvPr id="196" name="Google Shape;196;g9504e29505_0_0">
            <a:extLst>
              <a:ext uri="{FF2B5EF4-FFF2-40B4-BE49-F238E27FC236}">
                <a16:creationId xmlns:a16="http://schemas.microsoft.com/office/drawing/2014/main" id="{AC83161B-2C45-5617-A74E-BB93626987D1}"/>
              </a:ext>
            </a:extLst>
          </p:cNvPr>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228600" indent="-228600"/>
            <a:r>
              <a:rPr lang="en-US"/>
              <a:t>Validates that collection objects are properly purged from memory when cleared</a:t>
            </a:r>
            <a:endParaRPr lang="en-US" dirty="0"/>
          </a:p>
          <a:p>
            <a:pPr marL="228600" indent="-228600"/>
            <a:r>
              <a:rPr lang="en-US" dirty="0"/>
              <a:t>Helps ensure that information that should not exists within memory is not floating around within the application if it shouldn't be</a:t>
            </a:r>
          </a:p>
        </p:txBody>
      </p:sp>
      <p:sp>
        <p:nvSpPr>
          <p:cNvPr id="2" name="Text Placeholder 1">
            <a:extLst>
              <a:ext uri="{FF2B5EF4-FFF2-40B4-BE49-F238E27FC236}">
                <a16:creationId xmlns:a16="http://schemas.microsoft.com/office/drawing/2014/main" id="{C7375637-B45A-6CA5-C6C5-C7579EAC80AD}"/>
              </a:ext>
            </a:extLst>
          </p:cNvPr>
          <p:cNvSpPr>
            <a:spLocks noGrp="1"/>
          </p:cNvSpPr>
          <p:nvPr>
            <p:ph type="body" idx="2"/>
          </p:nvPr>
        </p:nvSpPr>
        <p:spPr/>
        <p:txBody>
          <a:bodyPr/>
          <a:lstStyle/>
          <a:p>
            <a:pPr marL="114300" indent="0">
              <a:buNone/>
            </a:pPr>
            <a:endParaRPr lang="en-US"/>
          </a:p>
        </p:txBody>
      </p:sp>
      <p:pic>
        <p:nvPicPr>
          <p:cNvPr id="197" name="Google Shape;197;g9504e29505_0_0" descr="Green Pace logo">
            <a:extLst>
              <a:ext uri="{FF2B5EF4-FFF2-40B4-BE49-F238E27FC236}">
                <a16:creationId xmlns:a16="http://schemas.microsoft.com/office/drawing/2014/main" id="{9ACFA5A6-1E4F-258C-66B6-B619AFFF7026}"/>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3" name="Picture 2">
            <a:extLst>
              <a:ext uri="{FF2B5EF4-FFF2-40B4-BE49-F238E27FC236}">
                <a16:creationId xmlns:a16="http://schemas.microsoft.com/office/drawing/2014/main" id="{647BADB7-17F1-9C34-12F8-04B5BAC7B3E3}"/>
              </a:ext>
            </a:extLst>
          </p:cNvPr>
          <p:cNvPicPr>
            <a:picLocks noChangeAspect="1"/>
          </p:cNvPicPr>
          <p:nvPr/>
        </p:nvPicPr>
        <p:blipFill>
          <a:blip r:embed="rId5"/>
          <a:stretch>
            <a:fillRect/>
          </a:stretch>
        </p:blipFill>
        <p:spPr>
          <a:xfrm>
            <a:off x="6302292" y="2281739"/>
            <a:ext cx="4981575" cy="409575"/>
          </a:xfrm>
          <a:prstGeom prst="rect">
            <a:avLst/>
          </a:prstGeom>
        </p:spPr>
      </p:pic>
      <p:pic>
        <p:nvPicPr>
          <p:cNvPr id="4" name="Picture 3" descr="A screen shot of a computer code&#10;&#10;AI-generated content may be incorrect.">
            <a:extLst>
              <a:ext uri="{FF2B5EF4-FFF2-40B4-BE49-F238E27FC236}">
                <a16:creationId xmlns:a16="http://schemas.microsoft.com/office/drawing/2014/main" id="{5F8279B8-23D1-9C82-B4FE-B8564F629B21}"/>
              </a:ext>
            </a:extLst>
          </p:cNvPr>
          <p:cNvPicPr>
            <a:picLocks noChangeAspect="1"/>
          </p:cNvPicPr>
          <p:nvPr/>
        </p:nvPicPr>
        <p:blipFill>
          <a:blip r:embed="rId6"/>
          <a:stretch>
            <a:fillRect/>
          </a:stretch>
        </p:blipFill>
        <p:spPr>
          <a:xfrm>
            <a:off x="6276224" y="2876049"/>
            <a:ext cx="5133975" cy="1847850"/>
          </a:xfrm>
          <a:prstGeom prst="rect">
            <a:avLst/>
          </a:prstGeom>
        </p:spPr>
      </p:pic>
    </p:spTree>
    <p:custDataLst>
      <p:tags r:id="rId1"/>
    </p:custDataLst>
    <p:extLst>
      <p:ext uri="{BB962C8B-B14F-4D97-AF65-F5344CB8AC3E}">
        <p14:creationId xmlns:p14="http://schemas.microsoft.com/office/powerpoint/2010/main" val="17656088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5E02DE04-12F9-594F-08E3-9F44603BBE07}"/>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00EAFA18-811C-436A-B318-3F99F04A9537}"/>
              </a:ext>
            </a:extLst>
          </p:cNvPr>
          <p:cNvSpPr txBox="1">
            <a:spLocks noGrp="1"/>
          </p:cNvSpPr>
          <p:nvPr>
            <p:ph type="title"/>
          </p:nvPr>
        </p:nvSpPr>
        <p:spPr>
          <a:xfrm>
            <a:off x="1431759" y="764373"/>
            <a:ext cx="10074441" cy="1293028"/>
          </a:xfrm>
          <a:prstGeom prst="rect">
            <a:avLst/>
          </a:prstGeom>
          <a:noFill/>
          <a:ln>
            <a:noFill/>
          </a:ln>
        </p:spPr>
        <p:txBody>
          <a:bodyPr spcFirstLastPara="1" wrap="square" lIns="91425" tIns="45700" rIns="91425" bIns="45700" anchor="ctr" anchorCtr="0">
            <a:noAutofit/>
          </a:bodyPr>
          <a:lstStyle/>
          <a:p>
            <a:pPr marL="0" lvl="0" indent="0" algn="r">
              <a:lnSpc>
                <a:spcPct val="90000"/>
              </a:lnSpc>
              <a:spcBef>
                <a:spcPts val="0"/>
              </a:spcBef>
              <a:spcAft>
                <a:spcPts val="0"/>
              </a:spcAft>
              <a:buNone/>
            </a:pPr>
            <a:r>
              <a:rPr lang="en-US" dirty="0" err="1"/>
              <a:t>AtThrowsOutOfRangeWhenIndexInvalid</a:t>
            </a:r>
          </a:p>
        </p:txBody>
      </p:sp>
      <p:sp>
        <p:nvSpPr>
          <p:cNvPr id="196" name="Google Shape;196;g9504e29505_0_0">
            <a:extLst>
              <a:ext uri="{FF2B5EF4-FFF2-40B4-BE49-F238E27FC236}">
                <a16:creationId xmlns:a16="http://schemas.microsoft.com/office/drawing/2014/main" id="{A79B73FE-C634-4AFC-5C9F-8D5C0DEA0781}"/>
              </a:ext>
            </a:extLst>
          </p:cNvPr>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228600" indent="-228600"/>
            <a:r>
              <a:rPr lang="en-US" dirty="0"/>
              <a:t>Validates that the index outside the bounds of a collection, when referenced, throws a proper </a:t>
            </a:r>
            <a:r>
              <a:rPr lang="en-US"/>
              <a:t>exception with useful reason provided</a:t>
            </a:r>
          </a:p>
          <a:p>
            <a:pPr marL="228600" indent="-228600"/>
            <a:r>
              <a:rPr lang="en-US" dirty="0"/>
              <a:t>Exc</a:t>
            </a:r>
            <a:r>
              <a:rPr lang="en-US"/>
              <a:t>eption handling enables developers to securely plan for unexpected results</a:t>
            </a:r>
            <a:endParaRPr lang="en-US" dirty="0"/>
          </a:p>
        </p:txBody>
      </p:sp>
      <p:sp>
        <p:nvSpPr>
          <p:cNvPr id="2" name="Text Placeholder 1">
            <a:extLst>
              <a:ext uri="{FF2B5EF4-FFF2-40B4-BE49-F238E27FC236}">
                <a16:creationId xmlns:a16="http://schemas.microsoft.com/office/drawing/2014/main" id="{8609BA03-9635-D780-0B99-90C62B203E36}"/>
              </a:ext>
            </a:extLst>
          </p:cNvPr>
          <p:cNvSpPr>
            <a:spLocks noGrp="1"/>
          </p:cNvSpPr>
          <p:nvPr>
            <p:ph type="body" idx="2"/>
          </p:nvPr>
        </p:nvSpPr>
        <p:spPr/>
        <p:txBody>
          <a:bodyPr/>
          <a:lstStyle/>
          <a:p>
            <a:pPr marL="114300" indent="0">
              <a:buNone/>
            </a:pPr>
            <a:endParaRPr lang="en-US"/>
          </a:p>
        </p:txBody>
      </p:sp>
      <p:pic>
        <p:nvPicPr>
          <p:cNvPr id="197" name="Google Shape;197;g9504e29505_0_0" descr="Green Pace logo">
            <a:extLst>
              <a:ext uri="{FF2B5EF4-FFF2-40B4-BE49-F238E27FC236}">
                <a16:creationId xmlns:a16="http://schemas.microsoft.com/office/drawing/2014/main" id="{5634251D-4E26-CFD6-6F9A-8A6A4DFBBD45}"/>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6" name="Picture 5" descr="A black background with white text&#10;&#10;AI-generated content may be incorrect.">
            <a:extLst>
              <a:ext uri="{FF2B5EF4-FFF2-40B4-BE49-F238E27FC236}">
                <a16:creationId xmlns:a16="http://schemas.microsoft.com/office/drawing/2014/main" id="{A88A6FB2-3899-0B17-46B7-88CC8D5A29BE}"/>
              </a:ext>
            </a:extLst>
          </p:cNvPr>
          <p:cNvPicPr>
            <a:picLocks noChangeAspect="1"/>
          </p:cNvPicPr>
          <p:nvPr/>
        </p:nvPicPr>
        <p:blipFill>
          <a:blip r:embed="rId5"/>
          <a:stretch>
            <a:fillRect/>
          </a:stretch>
        </p:blipFill>
        <p:spPr>
          <a:xfrm>
            <a:off x="6272964" y="2193508"/>
            <a:ext cx="5551572" cy="485775"/>
          </a:xfrm>
          <a:prstGeom prst="rect">
            <a:avLst/>
          </a:prstGeom>
        </p:spPr>
      </p:pic>
      <p:pic>
        <p:nvPicPr>
          <p:cNvPr id="7" name="Picture 6" descr="A screen shot of a computer code&#10;&#10;AI-generated content may be incorrect.">
            <a:extLst>
              <a:ext uri="{FF2B5EF4-FFF2-40B4-BE49-F238E27FC236}">
                <a16:creationId xmlns:a16="http://schemas.microsoft.com/office/drawing/2014/main" id="{DB8B41EB-2D6A-DD4B-0275-9CB4B5852F95}"/>
              </a:ext>
            </a:extLst>
          </p:cNvPr>
          <p:cNvPicPr>
            <a:picLocks noChangeAspect="1"/>
          </p:cNvPicPr>
          <p:nvPr/>
        </p:nvPicPr>
        <p:blipFill>
          <a:blip r:embed="rId6"/>
          <a:stretch>
            <a:fillRect/>
          </a:stretch>
        </p:blipFill>
        <p:spPr>
          <a:xfrm>
            <a:off x="6273466" y="2806617"/>
            <a:ext cx="5129464" cy="1565609"/>
          </a:xfrm>
          <a:prstGeom prst="rect">
            <a:avLst/>
          </a:prstGeom>
        </p:spPr>
      </p:pic>
    </p:spTree>
    <p:custDataLst>
      <p:tags r:id="rId1"/>
    </p:custDataLst>
    <p:extLst>
      <p:ext uri="{BB962C8B-B14F-4D97-AF65-F5344CB8AC3E}">
        <p14:creationId xmlns:p14="http://schemas.microsoft.com/office/powerpoint/2010/main" val="29440791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AUTOMATION SUMMARY</a:t>
            </a:r>
            <a:endParaRPr/>
          </a:p>
        </p:txBody>
      </p:sp>
      <p:pic>
        <p:nvPicPr>
          <p:cNvPr id="203"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referRelativeResize="0">
            <a:picLocks noGrp="1"/>
          </p:cNvPicPr>
          <p:nvPr>
            <p:ph type="body" idx="1"/>
          </p:nvPr>
        </p:nvPicPr>
        <p:blipFill rotWithShape="1">
          <a:blip r:embed="rId4">
            <a:alphaModFix/>
          </a:blip>
          <a:srcRect/>
          <a:stretch/>
        </p:blipFill>
        <p:spPr>
          <a:xfrm>
            <a:off x="2127250" y="2199481"/>
            <a:ext cx="7937500" cy="4013200"/>
          </a:xfrm>
          <a:prstGeom prst="rect">
            <a:avLst/>
          </a:prstGeom>
          <a:noFill/>
          <a:ln>
            <a:noFill/>
          </a:ln>
        </p:spPr>
      </p:pic>
      <p:pic>
        <p:nvPicPr>
          <p:cNvPr id="204" name="Google Shape;204;p9"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0"/>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TOOLS</a:t>
            </a:r>
            <a:endParaRPr/>
          </a:p>
        </p:txBody>
      </p:sp>
      <p:sp>
        <p:nvSpPr>
          <p:cNvPr id="210" name="Google Shape;210;p10"/>
          <p:cNvSpPr txBox="1">
            <a:spLocks noGrp="1"/>
          </p:cNvSpPr>
          <p:nvPr>
            <p:ph type="body" idx="1"/>
          </p:nvPr>
        </p:nvSpPr>
        <p:spPr>
          <a:xfrm>
            <a:off x="685800" y="1784252"/>
            <a:ext cx="10820400" cy="4024125"/>
          </a:xfrm>
          <a:prstGeom prst="rect">
            <a:avLst/>
          </a:prstGeom>
          <a:noFill/>
          <a:ln>
            <a:noFill/>
          </a:ln>
        </p:spPr>
        <p:txBody>
          <a:bodyPr spcFirstLastPara="1" wrap="square" lIns="91425" tIns="45700" rIns="91425" bIns="45700" anchor="t" anchorCtr="0">
            <a:noAutofit/>
          </a:bodyPr>
          <a:lstStyle/>
          <a:p>
            <a:pPr marL="742950" indent="-285750">
              <a:lnSpc>
                <a:spcPct val="100000"/>
              </a:lnSpc>
              <a:buSzPts val="2000"/>
            </a:pPr>
            <a:r>
              <a:rPr lang="en-US" sz="1600">
                <a:ea typeface="Calibri"/>
                <a:cs typeface="Calibri"/>
              </a:rPr>
              <a:t>Clang-Tidy</a:t>
            </a:r>
            <a:endParaRPr lang="en-US" sz="1600" dirty="0">
              <a:ea typeface="Calibri"/>
              <a:cs typeface="Calibri"/>
            </a:endParaRPr>
          </a:p>
          <a:p>
            <a:pPr marL="1200150" lvl="1" indent="-285750">
              <a:lnSpc>
                <a:spcPct val="100000"/>
              </a:lnSpc>
              <a:buSzPts val="2000"/>
              <a:buFont typeface="Courier New"/>
              <a:buChar char="o"/>
            </a:pPr>
            <a:r>
              <a:rPr lang="en-US" sz="1600">
                <a:ea typeface="Calibri"/>
                <a:cs typeface="Calibri"/>
              </a:rPr>
              <a:t>checks C/C++ code for bugs, style issues, and modernization improvements.</a:t>
            </a:r>
            <a:endParaRPr lang="en-US" sz="1600" dirty="0">
              <a:ea typeface="Calibri"/>
              <a:cs typeface="Calibri"/>
            </a:endParaRPr>
          </a:p>
          <a:p>
            <a:pPr marL="742950" indent="-285750">
              <a:lnSpc>
                <a:spcPct val="100000"/>
              </a:lnSpc>
              <a:buSzPts val="2000"/>
            </a:pPr>
            <a:r>
              <a:rPr lang="en-US" sz="1600" dirty="0" err="1">
                <a:ea typeface="Calibri"/>
                <a:cs typeface="Calibri"/>
              </a:rPr>
              <a:t>CppCheck</a:t>
            </a:r>
            <a:endParaRPr lang="en-US" sz="1600" dirty="0">
              <a:ea typeface="Calibri"/>
              <a:cs typeface="Calibri"/>
            </a:endParaRPr>
          </a:p>
          <a:p>
            <a:pPr marL="1200150" lvl="1" indent="-285750">
              <a:lnSpc>
                <a:spcPct val="100000"/>
              </a:lnSpc>
              <a:buSzPts val="2000"/>
              <a:buFont typeface="Courier New"/>
              <a:buChar char="o"/>
            </a:pPr>
            <a:r>
              <a:rPr lang="en-US" sz="1600">
                <a:ea typeface="Calibri"/>
                <a:cs typeface="Calibri"/>
              </a:rPr>
              <a:t>static analysis tool focused on detecting bugs and undefined behavior in C/C++ without executing the program.</a:t>
            </a:r>
            <a:endParaRPr lang="en-US" sz="1600" dirty="0">
              <a:ea typeface="Calibri"/>
              <a:cs typeface="Calibri"/>
            </a:endParaRPr>
          </a:p>
          <a:p>
            <a:pPr marL="742950" indent="-285750">
              <a:lnSpc>
                <a:spcPct val="100000"/>
              </a:lnSpc>
              <a:buSzPts val="2000"/>
            </a:pPr>
            <a:r>
              <a:rPr lang="en-US" sz="1600" dirty="0" err="1">
                <a:ea typeface="Calibri"/>
                <a:cs typeface="Calibri"/>
              </a:rPr>
              <a:t>Valgrind</a:t>
            </a:r>
            <a:endParaRPr lang="en-US" sz="1600" dirty="0">
              <a:ea typeface="Calibri"/>
              <a:cs typeface="Calibri"/>
            </a:endParaRPr>
          </a:p>
          <a:p>
            <a:pPr marL="1200150" lvl="1" indent="-285750">
              <a:lnSpc>
                <a:spcPct val="100000"/>
              </a:lnSpc>
              <a:buSzPts val="2000"/>
              <a:buFont typeface="Courier New"/>
              <a:buChar char="o"/>
            </a:pPr>
            <a:r>
              <a:rPr lang="en-US" sz="1600">
                <a:ea typeface="Calibri"/>
                <a:cs typeface="Calibri"/>
              </a:rPr>
              <a:t>runtime analysis framework that detects memory leaks, invalid memory use, and performance issues during execution</a:t>
            </a:r>
            <a:endParaRPr lang="en-US" sz="1600" dirty="0">
              <a:ea typeface="Calibri"/>
              <a:cs typeface="Calibri"/>
            </a:endParaRPr>
          </a:p>
          <a:p>
            <a:pPr marL="742950" indent="-285750">
              <a:lnSpc>
                <a:spcPct val="100000"/>
              </a:lnSpc>
              <a:buSzPts val="2000"/>
            </a:pPr>
            <a:r>
              <a:rPr lang="en-US" sz="1600">
                <a:ea typeface="Calibri"/>
                <a:cs typeface="Calibri"/>
              </a:rPr>
              <a:t>SonarQube</a:t>
            </a:r>
            <a:endParaRPr lang="en-US" sz="1600" dirty="0">
              <a:ea typeface="Calibri"/>
              <a:cs typeface="Calibri"/>
            </a:endParaRPr>
          </a:p>
          <a:p>
            <a:pPr marL="1200150" lvl="1" indent="-285750">
              <a:lnSpc>
                <a:spcPct val="100000"/>
              </a:lnSpc>
              <a:spcBef>
                <a:spcPts val="1000"/>
              </a:spcBef>
              <a:buSzPts val="2000"/>
              <a:buFont typeface="Courier New"/>
              <a:buChar char="o"/>
            </a:pPr>
            <a:r>
              <a:rPr lang="en-US" sz="1600">
                <a:ea typeface="Calibri"/>
                <a:cs typeface="Calibri"/>
              </a:rPr>
              <a:t>platform for continuous code inspection that tracks bugs, vulnerabilities, and code quality across projects</a:t>
            </a:r>
            <a:endParaRPr lang="en-US" sz="1600" dirty="0">
              <a:ea typeface="Calibri"/>
              <a:cs typeface="Calibri"/>
            </a:endParaRPr>
          </a:p>
          <a:p>
            <a:pPr marL="742950" indent="-285750">
              <a:lnSpc>
                <a:spcPct val="100000"/>
              </a:lnSpc>
              <a:buSzPts val="2000"/>
            </a:pPr>
            <a:endParaRPr lang="en-US" sz="1600" dirty="0">
              <a:ea typeface="Calibri"/>
              <a:cs typeface="Calibri"/>
            </a:endParaRPr>
          </a:p>
        </p:txBody>
      </p:sp>
      <p:pic>
        <p:nvPicPr>
          <p:cNvPr id="211" name="Google Shape;211;p1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RISKS AND BENEFITS</a:t>
            </a:r>
            <a:endParaRPr/>
          </a:p>
        </p:txBody>
      </p:sp>
      <p:sp>
        <p:nvSpPr>
          <p:cNvPr id="217" name="Google Shape;217;p11"/>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fontScale="77500" lnSpcReduction="20000"/>
          </a:bodyPr>
          <a:lstStyle/>
          <a:p>
            <a:pPr marL="228600" indent="-228600">
              <a:lnSpc>
                <a:spcPct val="200000"/>
              </a:lnSpc>
              <a:spcBef>
                <a:spcPts val="0"/>
              </a:spcBef>
              <a:buSzPts val="2000"/>
            </a:pPr>
            <a:r>
              <a:rPr lang="en-US" sz="2000"/>
              <a:t>Risks</a:t>
            </a:r>
            <a:endParaRPr lang="en-US" sz="2000" dirty="0"/>
          </a:p>
          <a:p>
            <a:pPr marL="685800" lvl="1" indent="-285750">
              <a:lnSpc>
                <a:spcPct val="200000"/>
              </a:lnSpc>
              <a:spcBef>
                <a:spcPts val="0"/>
              </a:spcBef>
              <a:buSzPts val="2000"/>
              <a:buFont typeface="Courier New"/>
              <a:buChar char="o"/>
            </a:pPr>
            <a:r>
              <a:rPr lang="en-US" sz="1800"/>
              <a:t>Challenge to implement</a:t>
            </a:r>
          </a:p>
          <a:p>
            <a:pPr marL="1143000" lvl="2" indent="-228600">
              <a:lnSpc>
                <a:spcPct val="200000"/>
              </a:lnSpc>
              <a:spcBef>
                <a:spcPts val="0"/>
              </a:spcBef>
              <a:buSzPts val="2000"/>
              <a:buFont typeface="Wingdings"/>
              <a:buChar char="§"/>
            </a:pPr>
            <a:r>
              <a:rPr lang="en-US" sz="1600"/>
              <a:t>Huge time commitment</a:t>
            </a:r>
            <a:endParaRPr lang="en-US" sz="1600" dirty="0"/>
          </a:p>
          <a:p>
            <a:pPr marL="685800" lvl="1" indent="-285750">
              <a:lnSpc>
                <a:spcPct val="200000"/>
              </a:lnSpc>
              <a:spcBef>
                <a:spcPts val="0"/>
              </a:spcBef>
              <a:buSzPts val="2000"/>
              <a:buFont typeface="Courier New"/>
              <a:buChar char="o"/>
            </a:pPr>
            <a:r>
              <a:rPr lang="en-US" sz="1800"/>
              <a:t>Upholding standards in the team</a:t>
            </a:r>
            <a:endParaRPr lang="en-US" sz="1800">
              <a:solidFill>
                <a:srgbClr val="000000"/>
              </a:solidFill>
            </a:endParaRPr>
          </a:p>
          <a:p>
            <a:pPr marL="1143000" lvl="2" indent="-228600">
              <a:lnSpc>
                <a:spcPct val="200000"/>
              </a:lnSpc>
              <a:spcBef>
                <a:spcPts val="0"/>
              </a:spcBef>
              <a:buSzPts val="2000"/>
              <a:buFont typeface="Wingdings"/>
              <a:buChar char="§"/>
            </a:pPr>
            <a:r>
              <a:rPr lang="en-US" sz="1600"/>
              <a:t>Regular training programs</a:t>
            </a:r>
            <a:endParaRPr lang="en-US" sz="1600" dirty="0"/>
          </a:p>
          <a:p>
            <a:pPr marL="685800" lvl="1" indent="-285750">
              <a:lnSpc>
                <a:spcPct val="200000"/>
              </a:lnSpc>
              <a:spcBef>
                <a:spcPts val="0"/>
              </a:spcBef>
              <a:buSzPts val="2000"/>
              <a:buFont typeface="Courier New"/>
              <a:buChar char="o"/>
            </a:pPr>
            <a:r>
              <a:rPr lang="en-US" sz="1800"/>
              <a:t>Could cause delays in product releases </a:t>
            </a:r>
            <a:endParaRPr lang="en-US" sz="1800" dirty="0"/>
          </a:p>
          <a:p>
            <a:pPr marL="228600" indent="-228600">
              <a:lnSpc>
                <a:spcPct val="200000"/>
              </a:lnSpc>
              <a:spcBef>
                <a:spcPts val="0"/>
              </a:spcBef>
              <a:buSzPts val="2000"/>
            </a:pPr>
            <a:r>
              <a:rPr lang="en-US" sz="2000"/>
              <a:t>Benefits</a:t>
            </a:r>
            <a:endParaRPr lang="en-US" sz="2000" dirty="0"/>
          </a:p>
          <a:p>
            <a:pPr marL="685800" lvl="1" indent="-285750">
              <a:lnSpc>
                <a:spcPct val="200000"/>
              </a:lnSpc>
              <a:spcBef>
                <a:spcPts val="0"/>
              </a:spcBef>
              <a:buSzPts val="2000"/>
              <a:buFont typeface="Courier New"/>
              <a:buChar char="o"/>
            </a:pPr>
            <a:r>
              <a:rPr lang="en-US" sz="1800"/>
              <a:t>Results in a better, more secure product</a:t>
            </a:r>
            <a:endParaRPr lang="en-US" sz="1800" dirty="0"/>
          </a:p>
          <a:p>
            <a:pPr marL="685800" lvl="1" indent="-285750">
              <a:lnSpc>
                <a:spcPct val="200000"/>
              </a:lnSpc>
              <a:spcBef>
                <a:spcPts val="0"/>
              </a:spcBef>
              <a:buSzPts val="2000"/>
              <a:buFont typeface="Courier New"/>
              <a:buChar char="o"/>
            </a:pPr>
            <a:r>
              <a:rPr lang="en-US" sz="1800"/>
              <a:t>Mitigates risk of losses of data or assets of both users and company</a:t>
            </a:r>
            <a:endParaRPr lang="en-US" sz="1800" dirty="0"/>
          </a:p>
          <a:p>
            <a:pPr marL="685800" lvl="1" indent="-285750">
              <a:lnSpc>
                <a:spcPct val="200000"/>
              </a:lnSpc>
              <a:spcBef>
                <a:spcPts val="0"/>
              </a:spcBef>
              <a:buSzPts val="2000"/>
              <a:buFont typeface="Courier New"/>
              <a:buChar char="o"/>
            </a:pPr>
            <a:r>
              <a:rPr lang="en-US" sz="1800" dirty="0"/>
              <a:t>Once fully </a:t>
            </a:r>
            <a:r>
              <a:rPr lang="en-US" sz="1800"/>
              <a:t>set up, can make developers' job easier in some cases</a:t>
            </a:r>
            <a:endParaRPr lang="en-US" sz="1800" dirty="0"/>
          </a:p>
          <a:p>
            <a:pPr marL="228600" indent="-228600">
              <a:spcBef>
                <a:spcPts val="0"/>
              </a:spcBef>
              <a:buSzPts val="2000"/>
            </a:pPr>
            <a:endParaRPr lang="en-US" sz="2000" dirty="0"/>
          </a:p>
        </p:txBody>
      </p:sp>
      <p:pic>
        <p:nvPicPr>
          <p:cNvPr id="218" name="Google Shape;218;p11"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RECOMMENDATIONS</a:t>
            </a:r>
            <a:endParaRPr/>
          </a:p>
        </p:txBody>
      </p:sp>
      <p:sp>
        <p:nvSpPr>
          <p:cNvPr id="224" name="Google Shape;224;p12"/>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1143000" lvl="2" indent="-228600">
              <a:lnSpc>
                <a:spcPct val="200000"/>
              </a:lnSpc>
              <a:spcBef>
                <a:spcPts val="0"/>
              </a:spcBef>
            </a:pPr>
            <a:r>
              <a:rPr lang="en-US" sz="2000"/>
              <a:t>Potential Gaps</a:t>
            </a:r>
            <a:endParaRPr lang="en-US" sz="2000">
              <a:solidFill>
                <a:srgbClr val="FFFFFF"/>
              </a:solidFill>
            </a:endParaRPr>
          </a:p>
          <a:p>
            <a:pPr marL="1600200" lvl="3">
              <a:lnSpc>
                <a:spcPct val="200000"/>
              </a:lnSpc>
              <a:spcBef>
                <a:spcPts val="0"/>
              </a:spcBef>
            </a:pPr>
            <a:r>
              <a:rPr lang="en-US" sz="2000"/>
              <a:t>Need time to train entire team </a:t>
            </a:r>
          </a:p>
          <a:p>
            <a:pPr marL="1600200" lvl="3">
              <a:lnSpc>
                <a:spcPct val="200000"/>
              </a:lnSpc>
              <a:spcBef>
                <a:spcPts val="0"/>
              </a:spcBef>
            </a:pPr>
            <a:r>
              <a:rPr lang="en-US" sz="2000"/>
              <a:t>Disconnects between business needs and security needs</a:t>
            </a:r>
            <a:endParaRPr lang="en-US" sz="2000">
              <a:solidFill>
                <a:srgbClr val="000000"/>
              </a:solidFill>
            </a:endParaRPr>
          </a:p>
          <a:p>
            <a:pPr marL="1600200" lvl="3">
              <a:lnSpc>
                <a:spcPct val="200000"/>
              </a:lnSpc>
              <a:spcBef>
                <a:spcPts val="0"/>
              </a:spcBef>
            </a:pPr>
            <a:r>
              <a:rPr lang="en-US" sz="2000"/>
              <a:t>Introduces elements of lack of confidence in implementations which slows development</a:t>
            </a:r>
            <a:endParaRPr lang="en-US" sz="2000">
              <a:solidFill>
                <a:srgbClr val="000000"/>
              </a:solidFill>
            </a:endParaRPr>
          </a:p>
          <a:p>
            <a:pPr marL="1600200" lvl="3" indent="-228600">
              <a:lnSpc>
                <a:spcPct val="200000"/>
              </a:lnSpc>
              <a:spcBef>
                <a:spcPts val="0"/>
              </a:spcBef>
            </a:pPr>
            <a:endParaRPr lang="en-US" sz="2000" dirty="0">
              <a:solidFill>
                <a:srgbClr val="000000"/>
              </a:solidFill>
            </a:endParaRPr>
          </a:p>
          <a:p>
            <a:pPr marL="1371600" lvl="3" indent="0">
              <a:spcBef>
                <a:spcPts val="0"/>
              </a:spcBef>
              <a:buNone/>
            </a:pPr>
            <a:endParaRPr lang="en-US" sz="2000" dirty="0">
              <a:solidFill>
                <a:srgbClr val="FFFFFF"/>
              </a:solidFill>
            </a:endParaRPr>
          </a:p>
          <a:p>
            <a:pPr marL="1600200" lvl="3" indent="-228600">
              <a:spcBef>
                <a:spcPts val="0"/>
              </a:spcBef>
            </a:pPr>
            <a:endParaRPr lang="en-US" dirty="0">
              <a:solidFill>
                <a:srgbClr val="000000"/>
              </a:solidFill>
            </a:endParaRPr>
          </a:p>
          <a:p>
            <a:pPr marL="1600200" lvl="3" indent="-228600">
              <a:spcBef>
                <a:spcPts val="0"/>
              </a:spcBef>
            </a:pPr>
            <a:endParaRPr lang="en-US" dirty="0">
              <a:solidFill>
                <a:srgbClr val="000000"/>
              </a:solidFill>
            </a:endParaRPr>
          </a:p>
          <a:p>
            <a:pPr marL="1600200" lvl="3" indent="-228600">
              <a:spcBef>
                <a:spcPts val="0"/>
              </a:spcBef>
            </a:pPr>
            <a:endParaRPr lang="en-US" dirty="0">
              <a:solidFill>
                <a:srgbClr val="000000"/>
              </a:solidFill>
            </a:endParaRPr>
          </a:p>
          <a:p>
            <a:pPr marL="1143000" lvl="2" indent="-228600">
              <a:spcBef>
                <a:spcPts val="0"/>
              </a:spcBef>
            </a:pPr>
            <a:endParaRPr lang="en-US" dirty="0"/>
          </a:p>
          <a:p>
            <a:pPr marL="1600200" lvl="3" indent="-228600">
              <a:spcBef>
                <a:spcPts val="0"/>
              </a:spcBef>
            </a:pPr>
            <a:endParaRPr lang="en-US" dirty="0"/>
          </a:p>
          <a:p>
            <a:pPr marL="1600200" lvl="3" indent="-228600">
              <a:spcBef>
                <a:spcPts val="0"/>
              </a:spcBef>
            </a:pPr>
            <a:endParaRPr lang="en-US" dirty="0"/>
          </a:p>
          <a:p>
            <a:pPr marL="1600200" lvl="3" indent="-228600">
              <a:spcBef>
                <a:spcPts val="0"/>
              </a:spcBef>
            </a:pPr>
            <a:endParaRPr lang="en-US" dirty="0"/>
          </a:p>
        </p:txBody>
      </p:sp>
      <p:pic>
        <p:nvPicPr>
          <p:cNvPr id="225" name="Google Shape;225;p12"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CONCLUSIONS</a:t>
            </a:r>
            <a:endParaRPr/>
          </a:p>
        </p:txBody>
      </p:sp>
      <p:sp>
        <p:nvSpPr>
          <p:cNvPr id="231" name="Google Shape;231;p13"/>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fontScale="85000" lnSpcReduction="10000"/>
          </a:bodyPr>
          <a:lstStyle/>
          <a:p>
            <a:pPr marL="685800" indent="-228600">
              <a:lnSpc>
                <a:spcPct val="200000"/>
              </a:lnSpc>
              <a:buSzPts val="2200"/>
            </a:pPr>
            <a:r>
              <a:rPr lang="en-US" sz="1600"/>
              <a:t>Assess and plan against potential risks</a:t>
            </a:r>
            <a:endParaRPr lang="en-US" sz="1600">
              <a:solidFill>
                <a:srgbClr val="000000"/>
              </a:solidFill>
            </a:endParaRPr>
          </a:p>
          <a:p>
            <a:pPr marL="685800" indent="-228600">
              <a:lnSpc>
                <a:spcPct val="200000"/>
              </a:lnSpc>
              <a:buSzPts val="2200"/>
            </a:pPr>
            <a:r>
              <a:rPr lang="en-US" sz="1600"/>
              <a:t>Be considerate of various standards and procedures</a:t>
            </a:r>
            <a:endParaRPr lang="en-US" sz="1600" dirty="0"/>
          </a:p>
          <a:p>
            <a:pPr marL="685800" lvl="1" indent="-228600">
              <a:lnSpc>
                <a:spcPct val="200000"/>
              </a:lnSpc>
              <a:buSzPts val="2200"/>
            </a:pPr>
            <a:r>
              <a:rPr lang="en-US" sz="1600"/>
              <a:t>IDE-integrated tools like Clang-Tidy used to catch issues early during development</a:t>
            </a:r>
            <a:endParaRPr lang="en-US" sz="1600">
              <a:solidFill>
                <a:srgbClr val="000000"/>
              </a:solidFill>
            </a:endParaRPr>
          </a:p>
          <a:p>
            <a:pPr marL="685800" lvl="1" indent="-228600">
              <a:lnSpc>
                <a:spcPct val="200000"/>
              </a:lnSpc>
              <a:buSzPts val="2200"/>
            </a:pPr>
            <a:r>
              <a:rPr lang="en-US" sz="1600" dirty="0" err="1"/>
              <a:t>CppCheck</a:t>
            </a:r>
            <a:r>
              <a:rPr lang="en-US" sz="1600" dirty="0"/>
              <a:t> will run to prevent insecure code from entering the repository</a:t>
            </a:r>
            <a:endParaRPr lang="en-US" sz="1600" dirty="0">
              <a:solidFill>
                <a:srgbClr val="000000"/>
              </a:solidFill>
            </a:endParaRPr>
          </a:p>
          <a:p>
            <a:pPr marL="685800" lvl="1" indent="-228600">
              <a:lnSpc>
                <a:spcPct val="200000"/>
              </a:lnSpc>
              <a:buSzPts val="2200"/>
            </a:pPr>
            <a:r>
              <a:rPr lang="en-US" sz="1600"/>
              <a:t>Continuous integration tools like SonarQube will perform comprehensive scans and help ensure builds are successful</a:t>
            </a:r>
            <a:endParaRPr lang="en-US" sz="1600">
              <a:solidFill>
                <a:srgbClr val="000000"/>
              </a:solidFill>
            </a:endParaRPr>
          </a:p>
          <a:p>
            <a:pPr marL="685800" lvl="1" indent="-228600">
              <a:lnSpc>
                <a:spcPct val="200000"/>
              </a:lnSpc>
              <a:buSzPts val="2200"/>
            </a:pPr>
            <a:r>
              <a:rPr lang="en-US" sz="1600" dirty="0"/>
              <a:t>During QA testing, dynamic analysis tools such as </a:t>
            </a:r>
            <a:r>
              <a:rPr lang="en-US" sz="1600" dirty="0" err="1"/>
              <a:t>Valgrind</a:t>
            </a:r>
            <a:r>
              <a:rPr lang="en-US" sz="1600" dirty="0"/>
              <a:t> and </a:t>
            </a:r>
            <a:r>
              <a:rPr lang="en-US" sz="1600" dirty="0" err="1"/>
              <a:t>AddressSanitizer</a:t>
            </a:r>
            <a:r>
              <a:rPr lang="en-US" sz="1600" dirty="0"/>
              <a:t> will be used to detect runtime issues</a:t>
            </a:r>
            <a:endParaRPr lang="en-US" sz="1600" dirty="0">
              <a:solidFill>
                <a:srgbClr val="000000"/>
              </a:solidFill>
            </a:endParaRPr>
          </a:p>
          <a:p>
            <a:pPr marL="685800" lvl="1" indent="-228600">
              <a:lnSpc>
                <a:spcPct val="200000"/>
              </a:lnSpc>
              <a:buSzPts val="2200"/>
            </a:pPr>
            <a:r>
              <a:rPr lang="en-US" sz="1600"/>
              <a:t>Process will cycle with monitoring and improvement of practices</a:t>
            </a:r>
            <a:endParaRPr/>
          </a:p>
          <a:p>
            <a:pPr marL="228600" lvl="0" indent="-88900" algn="l" rtl="0">
              <a:lnSpc>
                <a:spcPct val="90000"/>
              </a:lnSpc>
              <a:spcBef>
                <a:spcPts val="1000"/>
              </a:spcBef>
              <a:spcAft>
                <a:spcPts val="0"/>
              </a:spcAft>
              <a:buClr>
                <a:schemeClr val="lt1"/>
              </a:buClr>
              <a:buSzPts val="2200"/>
              <a:buNone/>
            </a:pPr>
            <a:endParaRPr/>
          </a:p>
        </p:txBody>
      </p:sp>
      <p:pic>
        <p:nvPicPr>
          <p:cNvPr id="232" name="Google Shape;232;p13"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REFERENCES</a:t>
            </a:r>
            <a:endParaRPr/>
          </a:p>
        </p:txBody>
      </p:sp>
      <p:sp>
        <p:nvSpPr>
          <p:cNvPr id="238" name="Google Shape;238;p14"/>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0" indent="0">
              <a:spcBef>
                <a:spcPts val="0"/>
              </a:spcBef>
              <a:buNone/>
            </a:pPr>
            <a:r>
              <a:rPr lang="en-US" sz="2000"/>
              <a:t>Yankel, J., &amp; Yasar, H. (2023, June 12). </a:t>
            </a:r>
            <a:r>
              <a:rPr lang="en-US" sz="2000" i="1"/>
              <a:t>5 challenges to implementing DevSecOps and how to overcome them</a:t>
            </a:r>
            <a:r>
              <a:rPr lang="en-US" sz="2000"/>
              <a:t>. Carnegie Mellon University, Software Engineering Institute. </a:t>
            </a:r>
            <a:r>
              <a:rPr lang="en-US" sz="2000" dirty="0">
                <a:hlinkClick r:id="rId4"/>
              </a:rPr>
              <a:t>https://doi.org/10.58012/fywc-yq50</a:t>
            </a:r>
            <a:endParaRPr lang="en-US"/>
          </a:p>
        </p:txBody>
      </p:sp>
      <p:pic>
        <p:nvPicPr>
          <p:cNvPr id="239" name="Google Shape;239;p14"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398236C-7FA9-40C9-B456-AA158A506A32}">
  <ds:schemaRefs>
    <ds:schemaRef ds:uri="http://schemas.microsoft.com/sharepoint/v3/contenttype/forms"/>
  </ds:schemaRefs>
</ds:datastoreItem>
</file>

<file path=customXml/itemProps2.xml><?xml version="1.0" encoding="utf-8"?>
<ds:datastoreItem xmlns:ds="http://schemas.openxmlformats.org/officeDocument/2006/customXml" ds:itemID="{3E9B35DD-16B6-4415-A905-CDACA4FC6DBE}">
  <ds:schemaRefs>
    <ds:schemaRef ds:uri="http://schemas.openxmlformats.org/package/2006/metadata/core-propertie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http://schemas.microsoft.com/office/infopath/2007/PartnerControls"/>
    <ds:schemaRef ds:uri="http://purl.org/dc/terms/"/>
  </ds:schemaRefs>
</ds:datastoreItem>
</file>

<file path=customXml/itemProps3.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7</TotalTime>
  <Words>352</Words>
  <Application>Microsoft Office PowerPoint</Application>
  <PresentationFormat>Widescreen</PresentationFormat>
  <Paragraphs>39</Paragraphs>
  <Slides>18</Slides>
  <Notes>18</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Vapor Trail</vt:lpstr>
      <vt:lpstr>Green Pace</vt:lpstr>
      <vt:lpstr>OVERVIEW: DEFENSE IN DEPTH</vt:lpstr>
      <vt:lpstr>THREATS MATRIX</vt:lpstr>
      <vt:lpstr>10 PRINCIPLES</vt:lpstr>
      <vt:lpstr>10 PRINCIPLES (Cont)</vt:lpstr>
      <vt:lpstr>CODING STANDARDS</vt:lpstr>
      <vt:lpstr>ENCRYPTION POLICIES</vt:lpstr>
      <vt:lpstr>TRIPLE-A POLICIES</vt:lpstr>
      <vt:lpstr>IsEmptyOnCreate</vt:lpstr>
      <vt:lpstr>CanAddToEmptyVector</vt:lpstr>
      <vt:lpstr>ClearEmptiesCollection</vt:lpstr>
      <vt:lpstr>AtThrowsOutOfRangeWhenIndexInvalid</vt:lpstr>
      <vt:lpstr>AUTOMATION SUMMARY</vt:lpstr>
      <vt:lpstr>TOOLS</vt:lpstr>
      <vt:lpstr>RISKS AND BENEFITS</vt:lpstr>
      <vt:lpstr>RECOMMENDATIONS</vt:lpstr>
      <vt:lpstr>CONCLUSIONS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405 Project Two Presentation Template</dc:title>
  <dc:creator>Kathy Shields</dc:creator>
  <cp:lastModifiedBy>Ankita Koli</cp:lastModifiedBy>
  <cp:revision>822</cp:revision>
  <dcterms:created xsi:type="dcterms:W3CDTF">2020-08-19T17:59:24Z</dcterms:created>
  <dcterms:modified xsi:type="dcterms:W3CDTF">2026-04-20T00:48:45Z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